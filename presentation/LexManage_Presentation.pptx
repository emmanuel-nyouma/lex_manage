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377440"/>
            <a:ext cx="4754880" cy="4754880"/>
          </a:xfrm>
          <a:prstGeom prst="ellipse">
            <a:avLst/>
          </a:prstGeom>
          <a:solidFill>
            <a:srgbClr val="16264F"/>
          </a:solidFill>
          <a:ln/>
        </p:spPr>
      </p:sp>
      <p:sp>
        <p:nvSpPr>
          <p:cNvPr id="3" name="Shape 1"/>
          <p:cNvSpPr/>
          <p:nvPr/>
        </p:nvSpPr>
        <p:spPr>
          <a:xfrm>
            <a:off x="9357055" y="4023360"/>
            <a:ext cx="5120640" cy="5120640"/>
          </a:xfrm>
          <a:prstGeom prst="ellipse">
            <a:avLst/>
          </a:prstGeom>
          <a:solidFill>
            <a:srgbClr val="16264F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325880"/>
            <a:ext cx="1051560" cy="10515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5" name="Shape 3"/>
          <p:cNvSpPr/>
          <p:nvPr/>
        </p:nvSpPr>
        <p:spPr>
          <a:xfrm>
            <a:off x="1149456" y="1643872"/>
            <a:ext cx="32809" cy="415577"/>
          </a:xfrm>
          <a:prstGeom prst="rect">
            <a:avLst/>
          </a:prstGeom>
          <a:solidFill>
            <a:srgbClr val="0E1B3A"/>
          </a:solidFill>
          <a:ln/>
        </p:spPr>
      </p:sp>
      <p:sp>
        <p:nvSpPr>
          <p:cNvPr id="6" name="Shape 4"/>
          <p:cNvSpPr/>
          <p:nvPr/>
        </p:nvSpPr>
        <p:spPr>
          <a:xfrm>
            <a:off x="990880" y="1665744"/>
            <a:ext cx="349959" cy="27341"/>
          </a:xfrm>
          <a:prstGeom prst="rect">
            <a:avLst/>
          </a:prstGeom>
          <a:solidFill>
            <a:srgbClr val="0E1B3A"/>
          </a:solidFill>
          <a:ln/>
        </p:spPr>
      </p:sp>
      <p:sp>
        <p:nvSpPr>
          <p:cNvPr id="7" name="Shape 5"/>
          <p:cNvSpPr/>
          <p:nvPr/>
        </p:nvSpPr>
        <p:spPr>
          <a:xfrm>
            <a:off x="1133051" y="1616531"/>
            <a:ext cx="65617" cy="54681"/>
          </a:xfrm>
          <a:prstGeom prst="ellipse">
            <a:avLst/>
          </a:prstGeom>
          <a:solidFill>
            <a:srgbClr val="0E1B3A"/>
          </a:solidFill>
          <a:ln/>
        </p:spPr>
      </p:sp>
      <p:sp>
        <p:nvSpPr>
          <p:cNvPr id="8" name="Shape 6"/>
          <p:cNvSpPr/>
          <p:nvPr/>
        </p:nvSpPr>
        <p:spPr>
          <a:xfrm>
            <a:off x="1056498" y="2015703"/>
            <a:ext cx="218724" cy="32809"/>
          </a:xfrm>
          <a:prstGeom prst="rect">
            <a:avLst/>
          </a:prstGeom>
          <a:solidFill>
            <a:srgbClr val="0E1B3A"/>
          </a:solidFill>
          <a:ln/>
        </p:spPr>
      </p:sp>
      <p:sp>
        <p:nvSpPr>
          <p:cNvPr id="9" name="Shape 7"/>
          <p:cNvSpPr/>
          <p:nvPr/>
        </p:nvSpPr>
        <p:spPr>
          <a:xfrm>
            <a:off x="947136" y="1796979"/>
            <a:ext cx="120298" cy="38277"/>
          </a:xfrm>
          <a:prstGeom prst="ellipse">
            <a:avLst/>
          </a:prstGeom>
          <a:solidFill>
            <a:srgbClr val="0E1B3A"/>
          </a:solidFill>
          <a:ln/>
        </p:spPr>
      </p:sp>
      <p:sp>
        <p:nvSpPr>
          <p:cNvPr id="10" name="Shape 8"/>
          <p:cNvSpPr/>
          <p:nvPr/>
        </p:nvSpPr>
        <p:spPr>
          <a:xfrm>
            <a:off x="1264286" y="1796979"/>
            <a:ext cx="120298" cy="38277"/>
          </a:xfrm>
          <a:prstGeom prst="ellipse">
            <a:avLst/>
          </a:prstGeom>
          <a:solidFill>
            <a:srgbClr val="0E1B3A"/>
          </a:solidFill>
          <a:ln/>
        </p:spPr>
      </p:sp>
      <p:sp>
        <p:nvSpPr>
          <p:cNvPr id="11" name="Shape 9"/>
          <p:cNvSpPr/>
          <p:nvPr/>
        </p:nvSpPr>
        <p:spPr>
          <a:xfrm>
            <a:off x="1004551" y="1676680"/>
            <a:ext cx="6562" cy="142171"/>
          </a:xfrm>
          <a:prstGeom prst="rect">
            <a:avLst/>
          </a:prstGeom>
          <a:solidFill>
            <a:srgbClr val="0E1B3A"/>
          </a:solidFill>
          <a:ln/>
        </p:spPr>
      </p:sp>
      <p:sp>
        <p:nvSpPr>
          <p:cNvPr id="12" name="Shape 10"/>
          <p:cNvSpPr/>
          <p:nvPr/>
        </p:nvSpPr>
        <p:spPr>
          <a:xfrm>
            <a:off x="1321701" y="1676680"/>
            <a:ext cx="6562" cy="142171"/>
          </a:xfrm>
          <a:prstGeom prst="rect">
            <a:avLst/>
          </a:prstGeom>
          <a:solidFill>
            <a:srgbClr val="0E1B3A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5146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LexManage</a:t>
            </a:r>
            <a:endParaRPr lang="en-US" sz="6000" dirty="0"/>
          </a:p>
        </p:txBody>
      </p:sp>
      <p:sp>
        <p:nvSpPr>
          <p:cNvPr id="14" name="Text 12"/>
          <p:cNvSpPr/>
          <p:nvPr/>
        </p:nvSpPr>
        <p:spPr>
          <a:xfrm>
            <a:off x="640080" y="3639312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Multi-Tenant SaaS Legal Management Platform with AI-Powered Legal Research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40080" y="457200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Management   •   Document Repository   •   Client CRM   •   Smart Notifications   •   LexAssist AI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40080" y="5943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Presentation   —   Emmanuel Nyouma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185855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LexManage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OUTLINE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86868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5227168" cy="12344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96112" y="2167128"/>
            <a:ext cx="640080" cy="640080"/>
          </a:xfrm>
          <a:prstGeom prst="ellipse">
            <a:avLst/>
          </a:prstGeom>
          <a:solidFill>
            <a:srgbClr val="0E1B3A"/>
          </a:solidFill>
          <a:ln/>
        </p:spPr>
      </p:sp>
      <p:sp>
        <p:nvSpPr>
          <p:cNvPr id="8" name="Shape 6"/>
          <p:cNvSpPr/>
          <p:nvPr/>
        </p:nvSpPr>
        <p:spPr>
          <a:xfrm>
            <a:off x="1089672" y="2420600"/>
            <a:ext cx="252960" cy="173078"/>
          </a:xfrm>
          <a:prstGeom prst="roundRect">
            <a:avLst>
              <a:gd name="adj" fmla="val 9615"/>
            </a:avLst>
          </a:prstGeom>
          <a:solidFill>
            <a:srgbClr val="F59E0B"/>
          </a:solidFill>
          <a:ln/>
        </p:spPr>
      </p:sp>
      <p:sp>
        <p:nvSpPr>
          <p:cNvPr id="9" name="Shape 7"/>
          <p:cNvSpPr/>
          <p:nvPr/>
        </p:nvSpPr>
        <p:spPr>
          <a:xfrm>
            <a:off x="1172883" y="2374002"/>
            <a:ext cx="86539" cy="53255"/>
          </a:xfrm>
          <a:prstGeom prst="roundRect">
            <a:avLst>
              <a:gd name="adj" fmla="val 18750"/>
            </a:avLst>
          </a:prstGeom>
          <a:solidFill>
            <a:srgbClr val="F59E0B"/>
          </a:solidFill>
          <a:ln/>
        </p:spPr>
      </p:sp>
      <p:sp>
        <p:nvSpPr>
          <p:cNvPr id="10" name="Shape 8"/>
          <p:cNvSpPr/>
          <p:nvPr/>
        </p:nvSpPr>
        <p:spPr>
          <a:xfrm>
            <a:off x="1089672" y="2480511"/>
            <a:ext cx="252960" cy="23299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4815688" y="1984248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E2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691640" y="2130552"/>
            <a:ext cx="3261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691640" y="2514600"/>
            <a:ext cx="3992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LexManage is and the vision behind it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324448" y="1874520"/>
            <a:ext cx="5227168" cy="12344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80480" y="2167128"/>
            <a:ext cx="640080" cy="640080"/>
          </a:xfrm>
          <a:prstGeom prst="ellipse">
            <a:avLst/>
          </a:prstGeom>
          <a:solidFill>
            <a:srgbClr val="0E1B3A"/>
          </a:solidFill>
          <a:ln/>
        </p:spPr>
      </p:sp>
      <p:sp>
        <p:nvSpPr>
          <p:cNvPr id="16" name="Shape 14"/>
          <p:cNvSpPr/>
          <p:nvPr/>
        </p:nvSpPr>
        <p:spPr>
          <a:xfrm>
            <a:off x="6754069" y="2360688"/>
            <a:ext cx="292901" cy="252960"/>
          </a:xfrm>
          <a:prstGeom prst="triangle">
            <a:avLst/>
          </a:prstGeom>
          <a:solidFill>
            <a:srgbClr val="F59E0B"/>
          </a:solidFill>
          <a:ln/>
        </p:spPr>
      </p:sp>
      <p:sp>
        <p:nvSpPr>
          <p:cNvPr id="17" name="Shape 15"/>
          <p:cNvSpPr/>
          <p:nvPr/>
        </p:nvSpPr>
        <p:spPr>
          <a:xfrm>
            <a:off x="6890534" y="2433913"/>
            <a:ext cx="19970" cy="86539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Shape 16"/>
          <p:cNvSpPr/>
          <p:nvPr/>
        </p:nvSpPr>
        <p:spPr>
          <a:xfrm>
            <a:off x="6887206" y="2540423"/>
            <a:ext cx="26627" cy="26627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10500055" y="1984248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E2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7376008" y="2130552"/>
            <a:ext cx="3261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376008" y="2514600"/>
            <a:ext cx="3992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operational pain points in modern law firms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0080" y="3273552"/>
            <a:ext cx="5227168" cy="12344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96112" y="3566160"/>
            <a:ext cx="640080" cy="640080"/>
          </a:xfrm>
          <a:prstGeom prst="ellipse">
            <a:avLst/>
          </a:prstGeom>
          <a:solidFill>
            <a:srgbClr val="0E1B3A"/>
          </a:solidFill>
          <a:ln/>
        </p:spPr>
      </p:sp>
      <p:sp>
        <p:nvSpPr>
          <p:cNvPr id="24" name="Shape 22"/>
          <p:cNvSpPr/>
          <p:nvPr/>
        </p:nvSpPr>
        <p:spPr>
          <a:xfrm>
            <a:off x="1089672" y="3753063"/>
            <a:ext cx="252960" cy="113166"/>
          </a:xfrm>
          <a:prstGeom prst="diamond">
            <a:avLst/>
          </a:prstGeom>
          <a:solidFill>
            <a:srgbClr val="F59E0B"/>
          </a:solidFill>
          <a:ln/>
        </p:spPr>
      </p:sp>
      <p:sp>
        <p:nvSpPr>
          <p:cNvPr id="25" name="Shape 23"/>
          <p:cNvSpPr/>
          <p:nvPr/>
        </p:nvSpPr>
        <p:spPr>
          <a:xfrm>
            <a:off x="1089672" y="3829617"/>
            <a:ext cx="252960" cy="113166"/>
          </a:xfrm>
          <a:prstGeom prst="diamond">
            <a:avLst/>
          </a:prstGeom>
          <a:solidFill>
            <a:srgbClr val="F59E0B">
              <a:alpha val="65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089672" y="3906170"/>
            <a:ext cx="252960" cy="113166"/>
          </a:xfrm>
          <a:prstGeom prst="diamond">
            <a:avLst/>
          </a:prstGeom>
          <a:solidFill>
            <a:srgbClr val="F59E0B">
              <a:alpha val="4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4815688" y="33832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E2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1691640" y="3529584"/>
            <a:ext cx="3261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→ Problems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691640" y="3913632"/>
            <a:ext cx="3992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capability resolves which problem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324448" y="3273552"/>
            <a:ext cx="5227168" cy="12344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580480" y="3566160"/>
            <a:ext cx="640080" cy="640080"/>
          </a:xfrm>
          <a:prstGeom prst="ellipse">
            <a:avLst/>
          </a:prstGeom>
          <a:solidFill>
            <a:srgbClr val="0E1B3A"/>
          </a:solidFill>
          <a:ln/>
        </p:spPr>
      </p:sp>
      <p:sp>
        <p:nvSpPr>
          <p:cNvPr id="32" name="Shape 30"/>
          <p:cNvSpPr/>
          <p:nvPr/>
        </p:nvSpPr>
        <p:spPr>
          <a:xfrm>
            <a:off x="6754069" y="3739750"/>
            <a:ext cx="292901" cy="292901"/>
          </a:xfrm>
          <a:prstGeom prst="gear6">
            <a:avLst/>
          </a:prstGeom>
          <a:solidFill>
            <a:srgbClr val="F59E0B"/>
          </a:solidFill>
          <a:ln/>
        </p:spPr>
      </p:sp>
      <p:sp>
        <p:nvSpPr>
          <p:cNvPr id="33" name="Shape 31"/>
          <p:cNvSpPr/>
          <p:nvPr/>
        </p:nvSpPr>
        <p:spPr>
          <a:xfrm>
            <a:off x="6857250" y="3842931"/>
            <a:ext cx="86539" cy="86539"/>
          </a:xfrm>
          <a:prstGeom prst="ellipse">
            <a:avLst/>
          </a:prstGeom>
          <a:solidFill>
            <a:srgbClr val="F59E0B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500055" y="33832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E2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000" dirty="0"/>
          </a:p>
        </p:txBody>
      </p:sp>
      <p:sp>
        <p:nvSpPr>
          <p:cNvPr id="35" name="Text 33"/>
          <p:cNvSpPr/>
          <p:nvPr/>
        </p:nvSpPr>
        <p:spPr>
          <a:xfrm>
            <a:off x="7376008" y="3529584"/>
            <a:ext cx="3261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&amp; Tools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376008" y="3913632"/>
            <a:ext cx="3992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stack, from development to deployment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40080" y="4672584"/>
            <a:ext cx="5227168" cy="12344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96112" y="4965192"/>
            <a:ext cx="640080" cy="640080"/>
          </a:xfrm>
          <a:prstGeom prst="ellipse">
            <a:avLst/>
          </a:prstGeom>
          <a:solidFill>
            <a:srgbClr val="0E1B3A"/>
          </a:solidFill>
          <a:ln/>
        </p:spPr>
      </p:sp>
      <p:sp>
        <p:nvSpPr>
          <p:cNvPr id="39" name="Shape 37"/>
          <p:cNvSpPr/>
          <p:nvPr/>
        </p:nvSpPr>
        <p:spPr>
          <a:xfrm>
            <a:off x="1076359" y="5158752"/>
            <a:ext cx="279587" cy="279587"/>
          </a:xfrm>
          <a:prstGeom prst="blockArc">
            <a:avLst/>
          </a:prstGeom>
          <a:solidFill>
            <a:srgbClr val="F59E0B"/>
          </a:solidFill>
          <a:ln/>
        </p:spPr>
      </p:sp>
      <p:sp>
        <p:nvSpPr>
          <p:cNvPr id="40" name="Shape 38"/>
          <p:cNvSpPr/>
          <p:nvPr/>
        </p:nvSpPr>
        <p:spPr>
          <a:xfrm rot="-2100000">
            <a:off x="1212824" y="5218664"/>
            <a:ext cx="13314" cy="9319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1" name="Shape 39"/>
          <p:cNvSpPr/>
          <p:nvPr/>
        </p:nvSpPr>
        <p:spPr>
          <a:xfrm>
            <a:off x="1189525" y="5285232"/>
            <a:ext cx="53255" cy="53255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2" name="Text 40"/>
          <p:cNvSpPr/>
          <p:nvPr/>
        </p:nvSpPr>
        <p:spPr>
          <a:xfrm>
            <a:off x="4815688" y="4782312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E2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3000" dirty="0"/>
          </a:p>
        </p:txBody>
      </p:sp>
      <p:sp>
        <p:nvSpPr>
          <p:cNvPr id="43" name="Text 41"/>
          <p:cNvSpPr/>
          <p:nvPr/>
        </p:nvSpPr>
        <p:spPr>
          <a:xfrm>
            <a:off x="1691640" y="4928616"/>
            <a:ext cx="3261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/ Demo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691640" y="5312664"/>
            <a:ext cx="3992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walkthrough of the deployed platform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6324448" y="4672584"/>
            <a:ext cx="5227168" cy="12344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580480" y="4965192"/>
            <a:ext cx="640080" cy="640080"/>
          </a:xfrm>
          <a:prstGeom prst="ellipse">
            <a:avLst/>
          </a:prstGeom>
          <a:solidFill>
            <a:srgbClr val="0E1B3A"/>
          </a:solidFill>
          <a:ln/>
        </p:spPr>
      </p:sp>
      <p:sp>
        <p:nvSpPr>
          <p:cNvPr id="47" name="Shape 45"/>
          <p:cNvSpPr/>
          <p:nvPr/>
        </p:nvSpPr>
        <p:spPr>
          <a:xfrm rot="2700000">
            <a:off x="6787353" y="5271918"/>
            <a:ext cx="29956" cy="998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8" name="Shape 46"/>
          <p:cNvSpPr/>
          <p:nvPr/>
        </p:nvSpPr>
        <p:spPr>
          <a:xfrm rot="-2700000">
            <a:off x="6867235" y="5218664"/>
            <a:ext cx="29956" cy="17307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9" name="Text 47"/>
          <p:cNvSpPr/>
          <p:nvPr/>
        </p:nvSpPr>
        <p:spPr>
          <a:xfrm>
            <a:off x="10500055" y="4782312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E2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3000" dirty="0"/>
          </a:p>
        </p:txBody>
      </p:sp>
      <p:sp>
        <p:nvSpPr>
          <p:cNvPr id="50" name="Text 48"/>
          <p:cNvSpPr/>
          <p:nvPr/>
        </p:nvSpPr>
        <p:spPr>
          <a:xfrm>
            <a:off x="7376008" y="4928616"/>
            <a:ext cx="3261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7376008" y="5312664"/>
            <a:ext cx="3992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Outcomes, impact and next steps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185855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LexManage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86868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LexManage?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5989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4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LexManage is an enterprise-grade, multi-tenant SaaS platform that digitises the entire operation of a law firm in a single, secure workspace.</a:t>
            </a:r>
            <a:endParaRPr lang="en-US" sz="145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4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firm (a “tenant”) gets a fully isolated environment — its own users, clients, cases, documents and notifications — with strict data partitioning enforced at the application layer.</a:t>
            </a:r>
            <a:endParaRPr lang="en-US" sz="14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traditional legal-ERP features, LexManage embeds LexAssist AI: a Retrieval-Augmented Generation assistant that answers legal questions grounded in the firm’s own documents.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40080" y="5257800"/>
            <a:ext cx="5989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(FR / EN)   ·   Dark / Light mode   ·   Fully responsive, mobile-first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040880" y="1783080"/>
            <a:ext cx="4510735" cy="3931920"/>
          </a:xfrm>
          <a:prstGeom prst="rect">
            <a:avLst/>
          </a:prstGeom>
          <a:solidFill>
            <a:srgbClr val="0E1B3A"/>
          </a:solidFill>
          <a:ln/>
          <a:effectLst>
            <a:outerShdw sx="100000" sy="100000" kx="0" ky="0" algn="bl" rotWithShape="0" blurRad="114300" dist="38100" dir="5400000">
              <a:srgbClr val="0E1B3A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406640" y="2011680"/>
            <a:ext cx="37792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GLANCE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406640" y="2487168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8823960" y="2487168"/>
            <a:ext cx="24076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modules (NestJS)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406640" y="3264408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8823960" y="3264408"/>
            <a:ext cx="24076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models (Prisma / PostgreSQL)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406640" y="4041648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8823960" y="4041648"/>
            <a:ext cx="24076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levels (RBAC)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406640" y="4818888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8823960" y="4818888"/>
            <a:ext cx="24076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 grounded in firm data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LexManage was built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small and mid-size law firms still run on paper files, scattered drives, spreadsheets and email — creating concrete, daily operational risk: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3393338" cy="1828800"/>
          </a:xfrm>
          <a:prstGeom prst="rect">
            <a:avLst/>
          </a:prstGeom>
          <a:solidFill>
            <a:srgbClr val="16264F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6112" y="2542032"/>
            <a:ext cx="603504" cy="60350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7" name="Shape 5"/>
          <p:cNvSpPr/>
          <p:nvPr/>
        </p:nvSpPr>
        <p:spPr>
          <a:xfrm>
            <a:off x="1066059" y="2743361"/>
            <a:ext cx="263611" cy="200846"/>
          </a:xfrm>
          <a:prstGeom prst="folderCorner">
            <a:avLst/>
          </a:prstGeom>
          <a:solidFill>
            <a:srgbClr val="0E1B3A"/>
          </a:solidFill>
          <a:ln/>
        </p:spPr>
      </p:sp>
      <p:sp>
        <p:nvSpPr>
          <p:cNvPr id="8" name="Text 6"/>
          <p:cNvSpPr/>
          <p:nvPr/>
        </p:nvSpPr>
        <p:spPr>
          <a:xfrm>
            <a:off x="896112" y="3200400"/>
            <a:ext cx="29361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case information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96112" y="3584448"/>
            <a:ext cx="29361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Facts, parties, deadlines and history live across binders, drives and inboxes — no single source of truth.</a:t>
            </a:r>
            <a:endParaRPr lang="en-US" sz="1030" dirty="0"/>
          </a:p>
        </p:txBody>
      </p:sp>
      <p:sp>
        <p:nvSpPr>
          <p:cNvPr id="10" name="Shape 8"/>
          <p:cNvSpPr/>
          <p:nvPr/>
        </p:nvSpPr>
        <p:spPr>
          <a:xfrm>
            <a:off x="4399178" y="2286000"/>
            <a:ext cx="3393338" cy="1828800"/>
          </a:xfrm>
          <a:prstGeom prst="rect">
            <a:avLst/>
          </a:prstGeom>
          <a:solidFill>
            <a:srgbClr val="16264F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55210" y="2542032"/>
            <a:ext cx="603504" cy="60350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2" name="Shape 10"/>
          <p:cNvSpPr/>
          <p:nvPr/>
        </p:nvSpPr>
        <p:spPr>
          <a:xfrm>
            <a:off x="4862816" y="2718255"/>
            <a:ext cx="188293" cy="251058"/>
          </a:xfrm>
          <a:prstGeom prst="rect">
            <a:avLst/>
          </a:prstGeom>
          <a:solidFill>
            <a:srgbClr val="0E1B3A"/>
          </a:solidFill>
          <a:ln/>
        </p:spPr>
      </p:sp>
      <p:sp>
        <p:nvSpPr>
          <p:cNvPr id="13" name="Shape 11"/>
          <p:cNvSpPr/>
          <p:nvPr/>
        </p:nvSpPr>
        <p:spPr>
          <a:xfrm rot="5400000">
            <a:off x="4994621" y="2718255"/>
            <a:ext cx="56488" cy="56488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4894198" y="2812402"/>
            <a:ext cx="125529" cy="1569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4894198" y="2859475"/>
            <a:ext cx="125529" cy="1569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4894198" y="2906548"/>
            <a:ext cx="81594" cy="1569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4655210" y="3200400"/>
            <a:ext cx="29361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Disorganised, insecure documents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655210" y="3584448"/>
            <a:ext cx="29361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files are hard to find, uncategorised, and shared with no access control or audit trail.</a:t>
            </a:r>
            <a:endParaRPr lang="en-US" sz="1030" dirty="0"/>
          </a:p>
        </p:txBody>
      </p:sp>
      <p:sp>
        <p:nvSpPr>
          <p:cNvPr id="19" name="Shape 17"/>
          <p:cNvSpPr/>
          <p:nvPr/>
        </p:nvSpPr>
        <p:spPr>
          <a:xfrm>
            <a:off x="8158277" y="2286000"/>
            <a:ext cx="3393338" cy="1828800"/>
          </a:xfrm>
          <a:prstGeom prst="rect">
            <a:avLst/>
          </a:prstGeom>
          <a:solidFill>
            <a:srgbClr val="16264F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414309" y="2542032"/>
            <a:ext cx="603504" cy="60350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1" name="Shape 19"/>
          <p:cNvSpPr/>
          <p:nvPr/>
        </p:nvSpPr>
        <p:spPr>
          <a:xfrm>
            <a:off x="8596808" y="2743361"/>
            <a:ext cx="238505" cy="219675"/>
          </a:xfrm>
          <a:prstGeom prst="roundRect">
            <a:avLst>
              <a:gd name="adj" fmla="val 7143"/>
            </a:avLst>
          </a:prstGeom>
          <a:solidFill>
            <a:srgbClr val="0E1B3A"/>
          </a:solidFill>
          <a:ln/>
        </p:spPr>
      </p:sp>
      <p:sp>
        <p:nvSpPr>
          <p:cNvPr id="22" name="Shape 20"/>
          <p:cNvSpPr/>
          <p:nvPr/>
        </p:nvSpPr>
        <p:spPr>
          <a:xfrm>
            <a:off x="8596808" y="2781020"/>
            <a:ext cx="238505" cy="219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8647020" y="2718255"/>
            <a:ext cx="21968" cy="50212"/>
          </a:xfrm>
          <a:prstGeom prst="rect">
            <a:avLst/>
          </a:prstGeom>
          <a:solidFill>
            <a:srgbClr val="0E1B3A"/>
          </a:solidFill>
          <a:ln/>
        </p:spPr>
      </p:sp>
      <p:sp>
        <p:nvSpPr>
          <p:cNvPr id="24" name="Shape 22"/>
          <p:cNvSpPr/>
          <p:nvPr/>
        </p:nvSpPr>
        <p:spPr>
          <a:xfrm>
            <a:off x="8763134" y="2718255"/>
            <a:ext cx="21968" cy="50212"/>
          </a:xfrm>
          <a:prstGeom prst="rect">
            <a:avLst/>
          </a:prstGeom>
          <a:solidFill>
            <a:srgbClr val="0E1B3A"/>
          </a:solidFill>
          <a:ln/>
        </p:spPr>
      </p:sp>
      <p:sp>
        <p:nvSpPr>
          <p:cNvPr id="25" name="Shape 23"/>
          <p:cNvSpPr/>
          <p:nvPr/>
        </p:nvSpPr>
        <p:spPr>
          <a:xfrm>
            <a:off x="8634467" y="2831231"/>
            <a:ext cx="37659" cy="3138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8697231" y="2831231"/>
            <a:ext cx="37659" cy="3138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Shape 25"/>
          <p:cNvSpPr/>
          <p:nvPr/>
        </p:nvSpPr>
        <p:spPr>
          <a:xfrm>
            <a:off x="8759996" y="2831231"/>
            <a:ext cx="37659" cy="3138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Shape 26"/>
          <p:cNvSpPr/>
          <p:nvPr/>
        </p:nvSpPr>
        <p:spPr>
          <a:xfrm>
            <a:off x="8634467" y="2887719"/>
            <a:ext cx="37659" cy="3138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Shape 27"/>
          <p:cNvSpPr/>
          <p:nvPr/>
        </p:nvSpPr>
        <p:spPr>
          <a:xfrm>
            <a:off x="8697231" y="2887719"/>
            <a:ext cx="37659" cy="3138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8414309" y="3200400"/>
            <a:ext cx="29361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hearings &amp; deadlines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414309" y="3584448"/>
            <a:ext cx="29361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Procedural dates are tracked manually, so critical deadlines slip — with real legal consequences.</a:t>
            </a:r>
            <a:endParaRPr lang="en-US" sz="1030" dirty="0"/>
          </a:p>
        </p:txBody>
      </p:sp>
      <p:sp>
        <p:nvSpPr>
          <p:cNvPr id="32" name="Shape 30"/>
          <p:cNvSpPr/>
          <p:nvPr/>
        </p:nvSpPr>
        <p:spPr>
          <a:xfrm>
            <a:off x="640080" y="4343400"/>
            <a:ext cx="3393338" cy="1828800"/>
          </a:xfrm>
          <a:prstGeom prst="rect">
            <a:avLst/>
          </a:prstGeom>
          <a:solidFill>
            <a:srgbClr val="16264F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96112" y="4599432"/>
            <a:ext cx="603504" cy="60350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4" name="Shape 32"/>
          <p:cNvSpPr/>
          <p:nvPr/>
        </p:nvSpPr>
        <p:spPr>
          <a:xfrm>
            <a:off x="1078612" y="4781932"/>
            <a:ext cx="175740" cy="175740"/>
          </a:xfrm>
          <a:prstGeom prst="donut">
            <a:avLst/>
          </a:prstGeom>
          <a:solidFill>
            <a:srgbClr val="0E1B3A"/>
          </a:solidFill>
          <a:ln/>
        </p:spPr>
      </p:sp>
      <p:sp>
        <p:nvSpPr>
          <p:cNvPr id="35" name="Shape 33"/>
          <p:cNvSpPr/>
          <p:nvPr/>
        </p:nvSpPr>
        <p:spPr>
          <a:xfrm rot="-2700000">
            <a:off x="1235523" y="4951396"/>
            <a:ext cx="25106" cy="81594"/>
          </a:xfrm>
          <a:prstGeom prst="rect">
            <a:avLst/>
          </a:prstGeom>
          <a:solidFill>
            <a:srgbClr val="0E1B3A"/>
          </a:solidFill>
          <a:ln/>
        </p:spPr>
      </p:sp>
      <p:sp>
        <p:nvSpPr>
          <p:cNvPr id="36" name="Text 34"/>
          <p:cNvSpPr/>
          <p:nvPr/>
        </p:nvSpPr>
        <p:spPr>
          <a:xfrm>
            <a:off x="896112" y="5257800"/>
            <a:ext cx="29361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legal research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896112" y="5641848"/>
            <a:ext cx="29361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a clause or precedent across hundreds of documents is manual, repetitive and time-consuming.</a:t>
            </a:r>
            <a:endParaRPr lang="en-US" sz="1030" dirty="0"/>
          </a:p>
        </p:txBody>
      </p:sp>
      <p:sp>
        <p:nvSpPr>
          <p:cNvPr id="38" name="Shape 36"/>
          <p:cNvSpPr/>
          <p:nvPr/>
        </p:nvSpPr>
        <p:spPr>
          <a:xfrm>
            <a:off x="4399178" y="4343400"/>
            <a:ext cx="3393338" cy="1828800"/>
          </a:xfrm>
          <a:prstGeom prst="rect">
            <a:avLst/>
          </a:prstGeom>
          <a:solidFill>
            <a:srgbClr val="16264F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655210" y="4599432"/>
            <a:ext cx="603504" cy="60350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0" name="Shape 38"/>
          <p:cNvSpPr/>
          <p:nvPr/>
        </p:nvSpPr>
        <p:spPr>
          <a:xfrm>
            <a:off x="4919304" y="4763102"/>
            <a:ext cx="75317" cy="62764"/>
          </a:xfrm>
          <a:prstGeom prst="roundRect">
            <a:avLst>
              <a:gd name="adj" fmla="val 15000"/>
            </a:avLst>
          </a:prstGeom>
          <a:solidFill>
            <a:srgbClr val="0E1B3A"/>
          </a:solidFill>
          <a:ln/>
        </p:spPr>
      </p:sp>
      <p:sp>
        <p:nvSpPr>
          <p:cNvPr id="41" name="Shape 39"/>
          <p:cNvSpPr/>
          <p:nvPr/>
        </p:nvSpPr>
        <p:spPr>
          <a:xfrm>
            <a:off x="4818881" y="4963948"/>
            <a:ext cx="75317" cy="62764"/>
          </a:xfrm>
          <a:prstGeom prst="roundRect">
            <a:avLst>
              <a:gd name="adj" fmla="val 15000"/>
            </a:avLst>
          </a:prstGeom>
          <a:solidFill>
            <a:srgbClr val="0E1B3A"/>
          </a:solidFill>
          <a:ln/>
        </p:spPr>
      </p:sp>
      <p:sp>
        <p:nvSpPr>
          <p:cNvPr id="42" name="Shape 40"/>
          <p:cNvSpPr/>
          <p:nvPr/>
        </p:nvSpPr>
        <p:spPr>
          <a:xfrm>
            <a:off x="4919304" y="4963948"/>
            <a:ext cx="75317" cy="62764"/>
          </a:xfrm>
          <a:prstGeom prst="roundRect">
            <a:avLst>
              <a:gd name="adj" fmla="val 15000"/>
            </a:avLst>
          </a:prstGeom>
          <a:solidFill>
            <a:srgbClr val="0E1B3A"/>
          </a:solidFill>
          <a:ln/>
        </p:spPr>
      </p:sp>
      <p:sp>
        <p:nvSpPr>
          <p:cNvPr id="43" name="Shape 41"/>
          <p:cNvSpPr/>
          <p:nvPr/>
        </p:nvSpPr>
        <p:spPr>
          <a:xfrm>
            <a:off x="5019727" y="4963948"/>
            <a:ext cx="75317" cy="62764"/>
          </a:xfrm>
          <a:prstGeom prst="roundRect">
            <a:avLst>
              <a:gd name="adj" fmla="val 15000"/>
            </a:avLst>
          </a:prstGeom>
          <a:solidFill>
            <a:srgbClr val="0E1B3A"/>
          </a:solidFill>
          <a:ln/>
        </p:spPr>
      </p:sp>
      <p:sp>
        <p:nvSpPr>
          <p:cNvPr id="44" name="Shape 42"/>
          <p:cNvSpPr/>
          <p:nvPr/>
        </p:nvSpPr>
        <p:spPr>
          <a:xfrm>
            <a:off x="4953824" y="4825867"/>
            <a:ext cx="9415" cy="56488"/>
          </a:xfrm>
          <a:prstGeom prst="rect">
            <a:avLst/>
          </a:prstGeom>
          <a:solidFill>
            <a:srgbClr val="0E1B3A"/>
          </a:solidFill>
          <a:ln/>
        </p:spPr>
      </p:sp>
      <p:sp>
        <p:nvSpPr>
          <p:cNvPr id="45" name="Shape 43"/>
          <p:cNvSpPr/>
          <p:nvPr/>
        </p:nvSpPr>
        <p:spPr>
          <a:xfrm>
            <a:off x="4856539" y="4882355"/>
            <a:ext cx="207123" cy="9415"/>
          </a:xfrm>
          <a:prstGeom prst="rect">
            <a:avLst/>
          </a:prstGeom>
          <a:solidFill>
            <a:srgbClr val="0E1B3A"/>
          </a:solidFill>
          <a:ln/>
        </p:spPr>
      </p:sp>
      <p:sp>
        <p:nvSpPr>
          <p:cNvPr id="46" name="Shape 44"/>
          <p:cNvSpPr/>
          <p:nvPr/>
        </p:nvSpPr>
        <p:spPr>
          <a:xfrm>
            <a:off x="4856539" y="4882355"/>
            <a:ext cx="9415" cy="87870"/>
          </a:xfrm>
          <a:prstGeom prst="rect">
            <a:avLst/>
          </a:prstGeom>
          <a:solidFill>
            <a:srgbClr val="0E1B3A"/>
          </a:solidFill>
          <a:ln/>
        </p:spPr>
      </p:sp>
      <p:sp>
        <p:nvSpPr>
          <p:cNvPr id="47" name="Shape 45"/>
          <p:cNvSpPr/>
          <p:nvPr/>
        </p:nvSpPr>
        <p:spPr>
          <a:xfrm>
            <a:off x="4953824" y="4882355"/>
            <a:ext cx="9415" cy="87870"/>
          </a:xfrm>
          <a:prstGeom prst="rect">
            <a:avLst/>
          </a:prstGeom>
          <a:solidFill>
            <a:srgbClr val="0E1B3A"/>
          </a:solidFill>
          <a:ln/>
        </p:spPr>
      </p:sp>
      <p:sp>
        <p:nvSpPr>
          <p:cNvPr id="48" name="Shape 46"/>
          <p:cNvSpPr/>
          <p:nvPr/>
        </p:nvSpPr>
        <p:spPr>
          <a:xfrm>
            <a:off x="5051109" y="4882355"/>
            <a:ext cx="9415" cy="87870"/>
          </a:xfrm>
          <a:prstGeom prst="rect">
            <a:avLst/>
          </a:prstGeom>
          <a:solidFill>
            <a:srgbClr val="0E1B3A"/>
          </a:solidFill>
          <a:ln/>
        </p:spPr>
      </p:sp>
      <p:sp>
        <p:nvSpPr>
          <p:cNvPr id="49" name="Text 47"/>
          <p:cNvSpPr/>
          <p:nvPr/>
        </p:nvSpPr>
        <p:spPr>
          <a:xfrm>
            <a:off x="4655210" y="5257800"/>
            <a:ext cx="29361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privacy between firms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4655210" y="5641848"/>
            <a:ext cx="29361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digital tool must guarantee one firm can never see another firm’s clients, cases or files.</a:t>
            </a:r>
            <a:endParaRPr lang="en-US" sz="1030" dirty="0"/>
          </a:p>
        </p:txBody>
      </p:sp>
      <p:sp>
        <p:nvSpPr>
          <p:cNvPr id="51" name="Shape 49"/>
          <p:cNvSpPr/>
          <p:nvPr/>
        </p:nvSpPr>
        <p:spPr>
          <a:xfrm>
            <a:off x="8158277" y="4343400"/>
            <a:ext cx="3393338" cy="1828800"/>
          </a:xfrm>
          <a:prstGeom prst="rect">
            <a:avLst/>
          </a:prstGeom>
          <a:solidFill>
            <a:srgbClr val="16264F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414309" y="4599432"/>
            <a:ext cx="603504" cy="60350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53" name="Shape 51"/>
          <p:cNvSpPr/>
          <p:nvPr/>
        </p:nvSpPr>
        <p:spPr>
          <a:xfrm rot="10800000">
            <a:off x="8609361" y="4769379"/>
            <a:ext cx="213399" cy="263611"/>
          </a:xfrm>
          <a:prstGeom prst="pentagon">
            <a:avLst/>
          </a:prstGeom>
          <a:solidFill>
            <a:srgbClr val="0E1B3A"/>
          </a:solidFill>
          <a:ln/>
        </p:spPr>
      </p:sp>
      <p:sp>
        <p:nvSpPr>
          <p:cNvPr id="54" name="Shape 52"/>
          <p:cNvSpPr/>
          <p:nvPr/>
        </p:nvSpPr>
        <p:spPr>
          <a:xfrm rot="2700000">
            <a:off x="8665849" y="4888631"/>
            <a:ext cx="21968" cy="56488"/>
          </a:xfrm>
          <a:prstGeom prst="rect">
            <a:avLst/>
          </a:prstGeom>
          <a:solidFill>
            <a:srgbClr val="0E1B3A"/>
          </a:solidFill>
          <a:ln/>
        </p:spPr>
      </p:sp>
      <p:sp>
        <p:nvSpPr>
          <p:cNvPr id="55" name="Shape 53"/>
          <p:cNvSpPr/>
          <p:nvPr/>
        </p:nvSpPr>
        <p:spPr>
          <a:xfrm rot="-2700000">
            <a:off x="8700370" y="4850972"/>
            <a:ext cx="21968" cy="106700"/>
          </a:xfrm>
          <a:prstGeom prst="rect">
            <a:avLst/>
          </a:prstGeom>
          <a:solidFill>
            <a:srgbClr val="0E1B3A"/>
          </a:solidFill>
          <a:ln/>
        </p:spPr>
      </p:sp>
      <p:sp>
        <p:nvSpPr>
          <p:cNvPr id="56" name="Text 54"/>
          <p:cNvSpPr/>
          <p:nvPr/>
        </p:nvSpPr>
        <p:spPr>
          <a:xfrm>
            <a:off x="8414309" y="5257800"/>
            <a:ext cx="29361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access governance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8414309" y="5641848"/>
            <a:ext cx="29361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roles, every user can see and change everything — unacceptable for confidential legal data.</a:t>
            </a:r>
            <a:endParaRPr lang="en-US" sz="103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185855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LexManage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CAPABILITIES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86868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LexManage Feature Set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2508428" cy="2057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E1B3A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96112" y="2084832"/>
            <a:ext cx="658368" cy="658368"/>
          </a:xfrm>
          <a:prstGeom prst="ellipse">
            <a:avLst/>
          </a:prstGeom>
          <a:solidFill>
            <a:srgbClr val="0E1B3A"/>
          </a:solidFill>
          <a:ln/>
        </p:spPr>
      </p:sp>
      <p:sp>
        <p:nvSpPr>
          <p:cNvPr id="8" name="Shape 6"/>
          <p:cNvSpPr/>
          <p:nvPr/>
        </p:nvSpPr>
        <p:spPr>
          <a:xfrm>
            <a:off x="1081508" y="2304464"/>
            <a:ext cx="287575" cy="219105"/>
          </a:xfrm>
          <a:prstGeom prst="folderCorner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859536" y="2816352"/>
            <a:ext cx="20969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Management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59536" y="3200400"/>
            <a:ext cx="21243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case lifecycle (Open → In Progress → Pending → Closed) with priority, assignee and deadlines.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3441116" y="1828800"/>
            <a:ext cx="2508428" cy="2057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E1B3A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97148" y="2084832"/>
            <a:ext cx="658368" cy="658368"/>
          </a:xfrm>
          <a:prstGeom prst="ellipse">
            <a:avLst/>
          </a:prstGeom>
          <a:solidFill>
            <a:srgbClr val="0E1B3A"/>
          </a:solidFill>
          <a:ln/>
        </p:spPr>
      </p:sp>
      <p:sp>
        <p:nvSpPr>
          <p:cNvPr id="13" name="Shape 11"/>
          <p:cNvSpPr/>
          <p:nvPr/>
        </p:nvSpPr>
        <p:spPr>
          <a:xfrm>
            <a:off x="3923626" y="2277075"/>
            <a:ext cx="205411" cy="273881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Shape 12"/>
          <p:cNvSpPr/>
          <p:nvPr/>
        </p:nvSpPr>
        <p:spPr>
          <a:xfrm rot="5400000">
            <a:off x="4067414" y="2277075"/>
            <a:ext cx="61623" cy="61623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3957862" y="2379781"/>
            <a:ext cx="136941" cy="1711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3957862" y="2431134"/>
            <a:ext cx="136941" cy="1711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3957862" y="2482486"/>
            <a:ext cx="89011" cy="1711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3660572" y="2816352"/>
            <a:ext cx="20969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Management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660572" y="3200400"/>
            <a:ext cx="21243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Upload, categorise (10 categories) and secure legal documents with per-role visibility.</a:t>
            </a:r>
            <a:endParaRPr lang="en-US" sz="980" dirty="0"/>
          </a:p>
        </p:txBody>
      </p:sp>
      <p:sp>
        <p:nvSpPr>
          <p:cNvPr id="20" name="Shape 18"/>
          <p:cNvSpPr/>
          <p:nvPr/>
        </p:nvSpPr>
        <p:spPr>
          <a:xfrm>
            <a:off x="6242152" y="1828800"/>
            <a:ext cx="2508428" cy="2057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E1B3A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98184" y="2084832"/>
            <a:ext cx="658368" cy="658368"/>
          </a:xfrm>
          <a:prstGeom prst="ellipse">
            <a:avLst/>
          </a:prstGeom>
          <a:solidFill>
            <a:srgbClr val="0E1B3A"/>
          </a:solidFill>
          <a:ln/>
        </p:spPr>
      </p:sp>
      <p:sp>
        <p:nvSpPr>
          <p:cNvPr id="22" name="Shape 20"/>
          <p:cNvSpPr/>
          <p:nvPr/>
        </p:nvSpPr>
        <p:spPr>
          <a:xfrm>
            <a:off x="6690427" y="2304464"/>
            <a:ext cx="89011" cy="89011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3" name="Shape 21"/>
          <p:cNvSpPr/>
          <p:nvPr/>
        </p:nvSpPr>
        <p:spPr>
          <a:xfrm>
            <a:off x="6669886" y="2414016"/>
            <a:ext cx="130094" cy="116399"/>
          </a:xfrm>
          <a:prstGeom prst="roundRect">
            <a:avLst>
              <a:gd name="adj" fmla="val 17647"/>
            </a:avLst>
          </a:prstGeom>
          <a:solidFill>
            <a:srgbClr val="F59E0B"/>
          </a:solidFill>
          <a:ln/>
        </p:spPr>
      </p:sp>
      <p:sp>
        <p:nvSpPr>
          <p:cNvPr id="24" name="Shape 22"/>
          <p:cNvSpPr/>
          <p:nvPr/>
        </p:nvSpPr>
        <p:spPr>
          <a:xfrm>
            <a:off x="6854756" y="2290770"/>
            <a:ext cx="102705" cy="102705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5" name="Shape 23"/>
          <p:cNvSpPr/>
          <p:nvPr/>
        </p:nvSpPr>
        <p:spPr>
          <a:xfrm>
            <a:off x="6827368" y="2407169"/>
            <a:ext cx="157482" cy="136941"/>
          </a:xfrm>
          <a:prstGeom prst="roundRect">
            <a:avLst>
              <a:gd name="adj" fmla="val 17500"/>
            </a:avLst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6461608" y="2816352"/>
            <a:ext cx="20969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Directory (CRM)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61608" y="3200400"/>
            <a:ext cx="21243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Individuals &amp; corporates, linked to cases, fully searchable.</a:t>
            </a:r>
            <a:endParaRPr lang="en-US" sz="980" dirty="0"/>
          </a:p>
        </p:txBody>
      </p:sp>
      <p:sp>
        <p:nvSpPr>
          <p:cNvPr id="28" name="Shape 26"/>
          <p:cNvSpPr/>
          <p:nvPr/>
        </p:nvSpPr>
        <p:spPr>
          <a:xfrm>
            <a:off x="9043187" y="1828800"/>
            <a:ext cx="2508428" cy="2057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E1B3A">
                <a:alpha val="1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9299219" y="2084832"/>
            <a:ext cx="658368" cy="658368"/>
          </a:xfrm>
          <a:prstGeom prst="ellipse">
            <a:avLst/>
          </a:prstGeom>
          <a:solidFill>
            <a:srgbClr val="0E1B3A"/>
          </a:solidFill>
          <a:ln/>
        </p:spPr>
      </p:sp>
      <p:sp>
        <p:nvSpPr>
          <p:cNvPr id="30" name="Shape 28"/>
          <p:cNvSpPr/>
          <p:nvPr/>
        </p:nvSpPr>
        <p:spPr>
          <a:xfrm>
            <a:off x="9512004" y="2331852"/>
            <a:ext cx="232799" cy="191717"/>
          </a:xfrm>
          <a:prstGeom prst="roundRect">
            <a:avLst>
              <a:gd name="adj" fmla="val 14286"/>
            </a:avLst>
          </a:prstGeom>
          <a:solidFill>
            <a:srgbClr val="F59E0B"/>
          </a:solidFill>
          <a:ln/>
        </p:spPr>
      </p:sp>
      <p:sp>
        <p:nvSpPr>
          <p:cNvPr id="31" name="Shape 29"/>
          <p:cNvSpPr/>
          <p:nvPr/>
        </p:nvSpPr>
        <p:spPr>
          <a:xfrm>
            <a:off x="9563357" y="2386628"/>
            <a:ext cx="47929" cy="47929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2" name="Shape 30"/>
          <p:cNvSpPr/>
          <p:nvPr/>
        </p:nvSpPr>
        <p:spPr>
          <a:xfrm>
            <a:off x="9645521" y="2386628"/>
            <a:ext cx="47929" cy="47929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3" name="Shape 31"/>
          <p:cNvSpPr/>
          <p:nvPr/>
        </p:nvSpPr>
        <p:spPr>
          <a:xfrm>
            <a:off x="9621556" y="2277075"/>
            <a:ext cx="13694" cy="547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4" name="Shape 32"/>
          <p:cNvSpPr/>
          <p:nvPr/>
        </p:nvSpPr>
        <p:spPr>
          <a:xfrm>
            <a:off x="9607862" y="2256534"/>
            <a:ext cx="41082" cy="4108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5" name="Text 33"/>
          <p:cNvSpPr/>
          <p:nvPr/>
        </p:nvSpPr>
        <p:spPr>
          <a:xfrm>
            <a:off x="9262643" y="2816352"/>
            <a:ext cx="20969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LexAssist AI (RAG)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9262643" y="3200400"/>
            <a:ext cx="21243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Q&amp;A grounded in the firm’s own documents via an n8n RAG workflow.</a:t>
            </a:r>
            <a:endParaRPr lang="en-US" sz="980" dirty="0"/>
          </a:p>
        </p:txBody>
      </p:sp>
      <p:sp>
        <p:nvSpPr>
          <p:cNvPr id="37" name="Shape 35"/>
          <p:cNvSpPr/>
          <p:nvPr/>
        </p:nvSpPr>
        <p:spPr>
          <a:xfrm>
            <a:off x="640080" y="4160520"/>
            <a:ext cx="2508428" cy="2057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E1B3A">
                <a:alpha val="16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896112" y="4416552"/>
            <a:ext cx="658368" cy="658368"/>
          </a:xfrm>
          <a:prstGeom prst="ellipse">
            <a:avLst/>
          </a:prstGeom>
          <a:solidFill>
            <a:srgbClr val="0E1B3A"/>
          </a:solidFill>
          <a:ln/>
        </p:spPr>
      </p:sp>
      <p:sp>
        <p:nvSpPr>
          <p:cNvPr id="39" name="Shape 37"/>
          <p:cNvSpPr/>
          <p:nvPr/>
        </p:nvSpPr>
        <p:spPr>
          <a:xfrm>
            <a:off x="1136285" y="4636184"/>
            <a:ext cx="178023" cy="178023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0" name="Shape 38"/>
          <p:cNvSpPr/>
          <p:nvPr/>
        </p:nvSpPr>
        <p:spPr>
          <a:xfrm>
            <a:off x="1136285" y="4745736"/>
            <a:ext cx="178023" cy="75317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1" name="Shape 39"/>
          <p:cNvSpPr/>
          <p:nvPr/>
        </p:nvSpPr>
        <p:spPr>
          <a:xfrm>
            <a:off x="1108897" y="4807359"/>
            <a:ext cx="232799" cy="23965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2" name="Shape 40"/>
          <p:cNvSpPr/>
          <p:nvPr/>
        </p:nvSpPr>
        <p:spPr>
          <a:xfrm>
            <a:off x="1201331" y="4841594"/>
            <a:ext cx="47929" cy="4108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3" name="Shape 41"/>
          <p:cNvSpPr/>
          <p:nvPr/>
        </p:nvSpPr>
        <p:spPr>
          <a:xfrm>
            <a:off x="1211602" y="4608795"/>
            <a:ext cx="27388" cy="34235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4" name="Text 42"/>
          <p:cNvSpPr/>
          <p:nvPr/>
        </p:nvSpPr>
        <p:spPr>
          <a:xfrm>
            <a:off x="859536" y="5148072"/>
            <a:ext cx="20969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Center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859536" y="5532120"/>
            <a:ext cx="21243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Instant, scheduled and templated alerts with real-time delivery.</a:t>
            </a:r>
            <a:endParaRPr lang="en-US" sz="980" dirty="0"/>
          </a:p>
        </p:txBody>
      </p:sp>
      <p:sp>
        <p:nvSpPr>
          <p:cNvPr id="46" name="Shape 44"/>
          <p:cNvSpPr/>
          <p:nvPr/>
        </p:nvSpPr>
        <p:spPr>
          <a:xfrm>
            <a:off x="3441116" y="4160520"/>
            <a:ext cx="2508428" cy="2057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E1B3A">
                <a:alpha val="16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3697148" y="4416552"/>
            <a:ext cx="658368" cy="658368"/>
          </a:xfrm>
          <a:prstGeom prst="ellipse">
            <a:avLst/>
          </a:prstGeom>
          <a:solidFill>
            <a:srgbClr val="0E1B3A"/>
          </a:solidFill>
          <a:ln/>
        </p:spPr>
      </p:sp>
      <p:sp>
        <p:nvSpPr>
          <p:cNvPr id="48" name="Shape 46"/>
          <p:cNvSpPr/>
          <p:nvPr/>
        </p:nvSpPr>
        <p:spPr>
          <a:xfrm>
            <a:off x="3896238" y="4615642"/>
            <a:ext cx="191717" cy="191717"/>
          </a:xfrm>
          <a:prstGeom prst="donut">
            <a:avLst/>
          </a:prstGeom>
          <a:solidFill>
            <a:srgbClr val="F59E0B"/>
          </a:solidFill>
          <a:ln/>
        </p:spPr>
      </p:sp>
      <p:sp>
        <p:nvSpPr>
          <p:cNvPr id="49" name="Shape 47"/>
          <p:cNvSpPr/>
          <p:nvPr/>
        </p:nvSpPr>
        <p:spPr>
          <a:xfrm rot="-2700000">
            <a:off x="4067414" y="4800512"/>
            <a:ext cx="27388" cy="89011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0" name="Text 48"/>
          <p:cNvSpPr/>
          <p:nvPr/>
        </p:nvSpPr>
        <p:spPr>
          <a:xfrm>
            <a:off x="3660572" y="5148072"/>
            <a:ext cx="20969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Smart Search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3660572" y="5532120"/>
            <a:ext cx="21243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suggestions across cases, documents, members and clients.</a:t>
            </a:r>
            <a:endParaRPr lang="en-US" sz="980" dirty="0"/>
          </a:p>
        </p:txBody>
      </p:sp>
      <p:sp>
        <p:nvSpPr>
          <p:cNvPr id="52" name="Shape 50"/>
          <p:cNvSpPr/>
          <p:nvPr/>
        </p:nvSpPr>
        <p:spPr>
          <a:xfrm>
            <a:off x="6242152" y="4160520"/>
            <a:ext cx="2508428" cy="2057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E1B3A">
                <a:alpha val="16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6498184" y="4416552"/>
            <a:ext cx="658368" cy="658368"/>
          </a:xfrm>
          <a:prstGeom prst="ellipse">
            <a:avLst/>
          </a:prstGeom>
          <a:solidFill>
            <a:srgbClr val="0E1B3A"/>
          </a:solidFill>
          <a:ln/>
        </p:spPr>
      </p:sp>
      <p:sp>
        <p:nvSpPr>
          <p:cNvPr id="54" name="Shape 52"/>
          <p:cNvSpPr/>
          <p:nvPr/>
        </p:nvSpPr>
        <p:spPr>
          <a:xfrm>
            <a:off x="6697274" y="4636184"/>
            <a:ext cx="260187" cy="239646"/>
          </a:xfrm>
          <a:prstGeom prst="roundRect">
            <a:avLst>
              <a:gd name="adj" fmla="val 7143"/>
            </a:avLst>
          </a:prstGeom>
          <a:solidFill>
            <a:srgbClr val="F59E0B"/>
          </a:solidFill>
          <a:ln/>
        </p:spPr>
      </p:sp>
      <p:sp>
        <p:nvSpPr>
          <p:cNvPr id="55" name="Shape 53"/>
          <p:cNvSpPr/>
          <p:nvPr/>
        </p:nvSpPr>
        <p:spPr>
          <a:xfrm>
            <a:off x="6697274" y="4677266"/>
            <a:ext cx="260187" cy="2396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6" name="Shape 54"/>
          <p:cNvSpPr/>
          <p:nvPr/>
        </p:nvSpPr>
        <p:spPr>
          <a:xfrm>
            <a:off x="6752050" y="4608795"/>
            <a:ext cx="23965" cy="547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7" name="Shape 55"/>
          <p:cNvSpPr/>
          <p:nvPr/>
        </p:nvSpPr>
        <p:spPr>
          <a:xfrm>
            <a:off x="6878720" y="4608795"/>
            <a:ext cx="23965" cy="547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8" name="Shape 56"/>
          <p:cNvSpPr/>
          <p:nvPr/>
        </p:nvSpPr>
        <p:spPr>
          <a:xfrm>
            <a:off x="6738356" y="4732042"/>
            <a:ext cx="41082" cy="3423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9" name="Shape 57"/>
          <p:cNvSpPr/>
          <p:nvPr/>
        </p:nvSpPr>
        <p:spPr>
          <a:xfrm>
            <a:off x="6806827" y="4732042"/>
            <a:ext cx="41082" cy="3423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0" name="Shape 58"/>
          <p:cNvSpPr/>
          <p:nvPr/>
        </p:nvSpPr>
        <p:spPr>
          <a:xfrm>
            <a:off x="6875297" y="4732042"/>
            <a:ext cx="41082" cy="3423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1" name="Shape 59"/>
          <p:cNvSpPr/>
          <p:nvPr/>
        </p:nvSpPr>
        <p:spPr>
          <a:xfrm>
            <a:off x="6738356" y="4793665"/>
            <a:ext cx="41082" cy="3423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2" name="Shape 60"/>
          <p:cNvSpPr/>
          <p:nvPr/>
        </p:nvSpPr>
        <p:spPr>
          <a:xfrm>
            <a:off x="6806827" y="4793665"/>
            <a:ext cx="41082" cy="3423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3" name="Text 61"/>
          <p:cNvSpPr/>
          <p:nvPr/>
        </p:nvSpPr>
        <p:spPr>
          <a:xfrm>
            <a:off x="6461608" y="5148072"/>
            <a:ext cx="20969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&amp; Deadlines</a:t>
            </a:r>
            <a:endParaRPr lang="en-US" sz="1300" dirty="0"/>
          </a:p>
        </p:txBody>
      </p:sp>
      <p:sp>
        <p:nvSpPr>
          <p:cNvPr id="64" name="Text 62"/>
          <p:cNvSpPr/>
          <p:nvPr/>
        </p:nvSpPr>
        <p:spPr>
          <a:xfrm>
            <a:off x="6461608" y="5532120"/>
            <a:ext cx="21243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Hearings, events and procedural deadlines in one unified view.</a:t>
            </a:r>
            <a:endParaRPr lang="en-US" sz="980" dirty="0"/>
          </a:p>
        </p:txBody>
      </p:sp>
      <p:sp>
        <p:nvSpPr>
          <p:cNvPr id="65" name="Shape 63"/>
          <p:cNvSpPr/>
          <p:nvPr/>
        </p:nvSpPr>
        <p:spPr>
          <a:xfrm>
            <a:off x="9043187" y="4160520"/>
            <a:ext cx="2508428" cy="2057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E1B3A">
                <a:alpha val="16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9299219" y="4416552"/>
            <a:ext cx="658368" cy="658368"/>
          </a:xfrm>
          <a:prstGeom prst="ellipse">
            <a:avLst/>
          </a:prstGeom>
          <a:solidFill>
            <a:srgbClr val="0E1B3A"/>
          </a:solidFill>
          <a:ln/>
        </p:spPr>
      </p:sp>
      <p:sp>
        <p:nvSpPr>
          <p:cNvPr id="67" name="Shape 65"/>
          <p:cNvSpPr/>
          <p:nvPr/>
        </p:nvSpPr>
        <p:spPr>
          <a:xfrm rot="10800000">
            <a:off x="9512004" y="4601948"/>
            <a:ext cx="232799" cy="287575"/>
          </a:xfrm>
          <a:prstGeom prst="pentagon">
            <a:avLst/>
          </a:prstGeom>
          <a:solidFill>
            <a:srgbClr val="F59E0B"/>
          </a:solidFill>
          <a:ln/>
        </p:spPr>
      </p:sp>
      <p:sp>
        <p:nvSpPr>
          <p:cNvPr id="68" name="Shape 66"/>
          <p:cNvSpPr/>
          <p:nvPr/>
        </p:nvSpPr>
        <p:spPr>
          <a:xfrm rot="2700000">
            <a:off x="9573627" y="4732042"/>
            <a:ext cx="23965" cy="61623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9" name="Shape 67"/>
          <p:cNvSpPr/>
          <p:nvPr/>
        </p:nvSpPr>
        <p:spPr>
          <a:xfrm rot="-2700000">
            <a:off x="9611286" y="4690960"/>
            <a:ext cx="23965" cy="116399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0" name="Text 68"/>
          <p:cNvSpPr/>
          <p:nvPr/>
        </p:nvSpPr>
        <p:spPr>
          <a:xfrm>
            <a:off x="9262643" y="5148072"/>
            <a:ext cx="20969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&amp; Multi-Tenancy</a:t>
            </a:r>
            <a:endParaRPr lang="en-US" sz="1300" dirty="0"/>
          </a:p>
        </p:txBody>
      </p:sp>
      <p:sp>
        <p:nvSpPr>
          <p:cNvPr id="71" name="Text 69"/>
          <p:cNvSpPr/>
          <p:nvPr/>
        </p:nvSpPr>
        <p:spPr>
          <a:xfrm>
            <a:off x="9262643" y="5532120"/>
            <a:ext cx="21243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roles, strict per-firm data isolation on every request.</a:t>
            </a:r>
            <a:endParaRPr lang="en-US" sz="9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185855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LexManage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86868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Which Feature Answers Which Problem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1091153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5422392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BB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IT RESOLVES 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3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Fragmented case information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Case Management + Calendar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source of truth per file — status, parties, deadlines and linked documents.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Disorganised, insecure documents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 Management System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Categorised repository, per-role access, 15-min signed URLs, audit logging.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Missed hearings &amp; deadlines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Deadlines + Scheduled Notifications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Due-date tracking with BullMQ-scheduled reminders and urgent pop-ups.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Slow legal research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LexAssist AI (RAG)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Natural-language answers grounded in the firm’s own ingested documents.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privacy between firms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Multi-Tenancy + JWT scoping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query auto-filtered by tenantId; WebSocket rooms isolate realtime traffic.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Poor team coordination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Colleagues + Realtime Notifications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workload visibility and instant Socket.io delivery to the right users.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access governance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Role-Based Access Control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Router- and API-level guards restrict actions across 5 roles.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Finding anything quickly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 Smart Search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Token-split + full-phrase search across four entity types with suggestions.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185855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LexManage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86868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LexManage Was Built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536192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iterative, layered engineering approach: a decoupled frontend and backend, contract-first APIs, and security designed in from the start — not bolted on afterwards.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2240280"/>
            <a:ext cx="3423818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E1B3A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77824" y="2478024"/>
            <a:ext cx="603504" cy="603504"/>
          </a:xfrm>
          <a:prstGeom prst="ellipse">
            <a:avLst/>
          </a:prstGeom>
          <a:solidFill>
            <a:srgbClr val="0E1B3A"/>
          </a:solidFill>
          <a:ln/>
        </p:spPr>
      </p:sp>
      <p:sp>
        <p:nvSpPr>
          <p:cNvPr id="9" name="Shape 7"/>
          <p:cNvSpPr/>
          <p:nvPr/>
        </p:nvSpPr>
        <p:spPr>
          <a:xfrm>
            <a:off x="1041494" y="2641694"/>
            <a:ext cx="276163" cy="276163"/>
          </a:xfrm>
          <a:prstGeom prst="gear6">
            <a:avLst/>
          </a:prstGeom>
          <a:solidFill>
            <a:srgbClr val="F59E0B"/>
          </a:solidFill>
          <a:ln/>
        </p:spPr>
      </p:sp>
      <p:sp>
        <p:nvSpPr>
          <p:cNvPr id="10" name="Shape 8"/>
          <p:cNvSpPr/>
          <p:nvPr/>
        </p:nvSpPr>
        <p:spPr>
          <a:xfrm>
            <a:off x="1138779" y="2738979"/>
            <a:ext cx="81594" cy="81594"/>
          </a:xfrm>
          <a:prstGeom prst="ellipse">
            <a:avLst/>
          </a:prstGeom>
          <a:solidFill>
            <a:srgbClr val="F59E0B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00200" y="2478024"/>
            <a:ext cx="228081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Domain modelling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96112" y="3154680"/>
            <a:ext cx="296661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2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the legal domain (tenants, users, cases, clients, documents, deadlines, notifications) as a Prisma schema — 13 entities with explicit relations.</a:t>
            </a:r>
            <a:endParaRPr lang="en-US" sz="1020" dirty="0"/>
          </a:p>
        </p:txBody>
      </p:sp>
      <p:sp>
        <p:nvSpPr>
          <p:cNvPr id="13" name="Shape 11"/>
          <p:cNvSpPr/>
          <p:nvPr/>
        </p:nvSpPr>
        <p:spPr>
          <a:xfrm>
            <a:off x="4383938" y="2240280"/>
            <a:ext cx="3423818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E1B3A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21682" y="2478024"/>
            <a:ext cx="603504" cy="603504"/>
          </a:xfrm>
          <a:prstGeom prst="ellipse">
            <a:avLst/>
          </a:prstGeom>
          <a:solidFill>
            <a:srgbClr val="0E1B3A"/>
          </a:solidFill>
          <a:ln/>
        </p:spPr>
      </p:sp>
      <p:sp>
        <p:nvSpPr>
          <p:cNvPr id="15" name="Shape 13"/>
          <p:cNvSpPr/>
          <p:nvPr/>
        </p:nvSpPr>
        <p:spPr>
          <a:xfrm rot="3300000">
            <a:off x="4860670" y="2717012"/>
            <a:ext cx="21968" cy="8159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Shape 14"/>
          <p:cNvSpPr/>
          <p:nvPr/>
        </p:nvSpPr>
        <p:spPr>
          <a:xfrm rot="-3300000">
            <a:off x="4860670" y="2767223"/>
            <a:ext cx="21968" cy="8159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Shape 15"/>
          <p:cNvSpPr/>
          <p:nvPr/>
        </p:nvSpPr>
        <p:spPr>
          <a:xfrm rot="-3300000">
            <a:off x="4973646" y="2717012"/>
            <a:ext cx="21968" cy="8159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Shape 16"/>
          <p:cNvSpPr/>
          <p:nvPr/>
        </p:nvSpPr>
        <p:spPr>
          <a:xfrm rot="3300000">
            <a:off x="4973646" y="2767223"/>
            <a:ext cx="21968" cy="8159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5344058" y="2478024"/>
            <a:ext cx="228081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API-first backend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639970" y="3154680"/>
            <a:ext cx="296661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2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NestJS modules per domain (controller + service). Validate every input with Zod / class-validator. Document with Swagger / OpenAPI.</a:t>
            </a:r>
            <a:endParaRPr lang="en-US" sz="1020" dirty="0"/>
          </a:p>
        </p:txBody>
      </p:sp>
      <p:sp>
        <p:nvSpPr>
          <p:cNvPr id="21" name="Shape 19"/>
          <p:cNvSpPr/>
          <p:nvPr/>
        </p:nvSpPr>
        <p:spPr>
          <a:xfrm>
            <a:off x="8127797" y="2240280"/>
            <a:ext cx="3423818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E1B3A">
                <a:alpha val="1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365541" y="2478024"/>
            <a:ext cx="603504" cy="603504"/>
          </a:xfrm>
          <a:prstGeom prst="ellipse">
            <a:avLst/>
          </a:prstGeom>
          <a:solidFill>
            <a:srgbClr val="0E1B3A"/>
          </a:solidFill>
          <a:ln/>
        </p:spPr>
      </p:sp>
      <p:sp>
        <p:nvSpPr>
          <p:cNvPr id="23" name="Shape 21"/>
          <p:cNvSpPr/>
          <p:nvPr/>
        </p:nvSpPr>
        <p:spPr>
          <a:xfrm>
            <a:off x="8535488" y="2666800"/>
            <a:ext cx="263611" cy="225952"/>
          </a:xfrm>
          <a:prstGeom prst="hexagon">
            <a:avLst/>
          </a:prstGeom>
          <a:solidFill>
            <a:srgbClr val="F59E0B"/>
          </a:solidFill>
          <a:ln/>
        </p:spPr>
      </p:sp>
      <p:sp>
        <p:nvSpPr>
          <p:cNvPr id="24" name="Text 22"/>
          <p:cNvSpPr/>
          <p:nvPr/>
        </p:nvSpPr>
        <p:spPr>
          <a:xfrm>
            <a:off x="9087917" y="2478024"/>
            <a:ext cx="228081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Component-driven UI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383829" y="3154680"/>
            <a:ext cx="296661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2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React 19 SPA of reusable components, Zustand for global state, React Query for server state, caching and retries.</a:t>
            </a:r>
            <a:endParaRPr lang="en-US" sz="1020" dirty="0"/>
          </a:p>
        </p:txBody>
      </p:sp>
      <p:sp>
        <p:nvSpPr>
          <p:cNvPr id="26" name="Shape 24"/>
          <p:cNvSpPr/>
          <p:nvPr/>
        </p:nvSpPr>
        <p:spPr>
          <a:xfrm>
            <a:off x="640080" y="4389120"/>
            <a:ext cx="3423818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E1B3A">
                <a:alpha val="1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77824" y="4626864"/>
            <a:ext cx="603504" cy="603504"/>
          </a:xfrm>
          <a:prstGeom prst="ellipse">
            <a:avLst/>
          </a:prstGeom>
          <a:solidFill>
            <a:srgbClr val="0E1B3A"/>
          </a:solidFill>
          <a:ln/>
        </p:spPr>
      </p:sp>
      <p:sp>
        <p:nvSpPr>
          <p:cNvPr id="28" name="Shape 26"/>
          <p:cNvSpPr/>
          <p:nvPr/>
        </p:nvSpPr>
        <p:spPr>
          <a:xfrm rot="10800000">
            <a:off x="1072876" y="4796811"/>
            <a:ext cx="213399" cy="263611"/>
          </a:xfrm>
          <a:prstGeom prst="pentagon">
            <a:avLst/>
          </a:prstGeom>
          <a:solidFill>
            <a:srgbClr val="F59E0B"/>
          </a:solidFill>
          <a:ln/>
        </p:spPr>
      </p:sp>
      <p:sp>
        <p:nvSpPr>
          <p:cNvPr id="29" name="Shape 27"/>
          <p:cNvSpPr/>
          <p:nvPr/>
        </p:nvSpPr>
        <p:spPr>
          <a:xfrm rot="2700000">
            <a:off x="1129364" y="4916063"/>
            <a:ext cx="21968" cy="5648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0" name="Shape 28"/>
          <p:cNvSpPr/>
          <p:nvPr/>
        </p:nvSpPr>
        <p:spPr>
          <a:xfrm rot="-2700000">
            <a:off x="1163885" y="4878404"/>
            <a:ext cx="21968" cy="1067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1600200" y="4626864"/>
            <a:ext cx="228081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Security hardening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96112" y="5303520"/>
            <a:ext cx="296661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2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in JWT auth, RBAC guards, tenant isolation, rate limiting, Helmet headers and signed URLs across the system.</a:t>
            </a:r>
            <a:endParaRPr lang="en-US" sz="1020" dirty="0"/>
          </a:p>
        </p:txBody>
      </p:sp>
      <p:sp>
        <p:nvSpPr>
          <p:cNvPr id="33" name="Shape 31"/>
          <p:cNvSpPr/>
          <p:nvPr/>
        </p:nvSpPr>
        <p:spPr>
          <a:xfrm>
            <a:off x="4383938" y="4389120"/>
            <a:ext cx="3423818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E1B3A">
                <a:alpha val="16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621682" y="4626864"/>
            <a:ext cx="603504" cy="603504"/>
          </a:xfrm>
          <a:prstGeom prst="ellipse">
            <a:avLst/>
          </a:prstGeom>
          <a:solidFill>
            <a:srgbClr val="0E1B3A"/>
          </a:solidFill>
          <a:ln/>
        </p:spPr>
      </p:sp>
      <p:sp>
        <p:nvSpPr>
          <p:cNvPr id="35" name="Shape 33"/>
          <p:cNvSpPr/>
          <p:nvPr/>
        </p:nvSpPr>
        <p:spPr>
          <a:xfrm>
            <a:off x="4854394" y="4790534"/>
            <a:ext cx="138082" cy="276163"/>
          </a:xfrm>
          <a:prstGeom prst="lightningBolt">
            <a:avLst/>
          </a:prstGeom>
          <a:solidFill>
            <a:srgbClr val="F59E0B"/>
          </a:solidFill>
          <a:ln/>
        </p:spPr>
      </p:sp>
      <p:sp>
        <p:nvSpPr>
          <p:cNvPr id="36" name="Text 34"/>
          <p:cNvSpPr/>
          <p:nvPr/>
        </p:nvSpPr>
        <p:spPr>
          <a:xfrm>
            <a:off x="5344058" y="4626864"/>
            <a:ext cx="228081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Performance tuning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639970" y="5303520"/>
            <a:ext cx="296661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2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Redis caching, cursor pagination, route-level code splitting and cold-start resilience.</a:t>
            </a:r>
            <a:endParaRPr lang="en-US" sz="1020" dirty="0"/>
          </a:p>
        </p:txBody>
      </p:sp>
      <p:sp>
        <p:nvSpPr>
          <p:cNvPr id="38" name="Shape 36"/>
          <p:cNvSpPr/>
          <p:nvPr/>
        </p:nvSpPr>
        <p:spPr>
          <a:xfrm>
            <a:off x="8127797" y="4389120"/>
            <a:ext cx="3423818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E1B3A">
                <a:alpha val="16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8365541" y="4626864"/>
            <a:ext cx="603504" cy="603504"/>
          </a:xfrm>
          <a:prstGeom prst="ellipse">
            <a:avLst/>
          </a:prstGeom>
          <a:solidFill>
            <a:srgbClr val="0E1B3A"/>
          </a:solidFill>
          <a:ln/>
        </p:spPr>
      </p:sp>
      <p:sp>
        <p:nvSpPr>
          <p:cNvPr id="40" name="Shape 38"/>
          <p:cNvSpPr/>
          <p:nvPr/>
        </p:nvSpPr>
        <p:spPr>
          <a:xfrm rot="10800000">
            <a:off x="8623358" y="4796811"/>
            <a:ext cx="87870" cy="156911"/>
          </a:xfrm>
          <a:prstGeom prst="teardrop">
            <a:avLst/>
          </a:prstGeom>
          <a:solidFill>
            <a:srgbClr val="F59E0B"/>
          </a:solidFill>
          <a:ln/>
        </p:spPr>
      </p:sp>
      <p:sp>
        <p:nvSpPr>
          <p:cNvPr id="41" name="Shape 39"/>
          <p:cNvSpPr/>
          <p:nvPr/>
        </p:nvSpPr>
        <p:spPr>
          <a:xfrm rot="-1500000">
            <a:off x="8566870" y="4928616"/>
            <a:ext cx="56488" cy="81594"/>
          </a:xfrm>
          <a:prstGeom prst="triangle">
            <a:avLst/>
          </a:prstGeom>
          <a:solidFill>
            <a:srgbClr val="F59E0B"/>
          </a:solidFill>
          <a:ln/>
        </p:spPr>
      </p:sp>
      <p:sp>
        <p:nvSpPr>
          <p:cNvPr id="42" name="Shape 40"/>
          <p:cNvSpPr/>
          <p:nvPr/>
        </p:nvSpPr>
        <p:spPr>
          <a:xfrm rot="1500000">
            <a:off x="8711228" y="4928616"/>
            <a:ext cx="56488" cy="81594"/>
          </a:xfrm>
          <a:prstGeom prst="triangle">
            <a:avLst/>
          </a:prstGeom>
          <a:solidFill>
            <a:srgbClr val="F59E0B"/>
          </a:solidFill>
          <a:ln/>
        </p:spPr>
      </p:sp>
      <p:sp>
        <p:nvSpPr>
          <p:cNvPr id="43" name="Shape 41"/>
          <p:cNvSpPr/>
          <p:nvPr/>
        </p:nvSpPr>
        <p:spPr>
          <a:xfrm>
            <a:off x="8648463" y="4853299"/>
            <a:ext cx="37659" cy="37659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4" name="Shape 42"/>
          <p:cNvSpPr/>
          <p:nvPr/>
        </p:nvSpPr>
        <p:spPr>
          <a:xfrm>
            <a:off x="8642187" y="5003933"/>
            <a:ext cx="50212" cy="50212"/>
          </a:xfrm>
          <a:prstGeom prst="triangle">
            <a:avLst/>
          </a:prstGeom>
          <a:solidFill>
            <a:srgbClr val="F59E0B"/>
          </a:solidFill>
          <a:ln/>
        </p:spPr>
      </p:sp>
      <p:sp>
        <p:nvSpPr>
          <p:cNvPr id="45" name="Text 43"/>
          <p:cNvSpPr/>
          <p:nvPr/>
        </p:nvSpPr>
        <p:spPr>
          <a:xfrm>
            <a:off x="9087917" y="4626864"/>
            <a:ext cx="228081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Cloud deployment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8383829" y="5303520"/>
            <a:ext cx="296661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2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Containerise the backend (Docker), deploy on a fully free managed stack, wire CI/CD on every push to main.</a:t>
            </a:r>
            <a:endParaRPr lang="en-US" sz="10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185855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LexManage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86868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End-to-End Architecture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3332378" cy="3200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E1B3A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874520"/>
            <a:ext cx="3332378" cy="548640"/>
          </a:xfrm>
          <a:prstGeom prst="rect">
            <a:avLst/>
          </a:prstGeom>
          <a:solidFill>
            <a:srgbClr val="0E1B3A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874520"/>
            <a:ext cx="30580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(Browser)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14400" y="2651760"/>
            <a:ext cx="2829458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SPA on Vercel CDN</a:t>
            </a:r>
            <a:endParaRPr lang="en-US" sz="11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Zustand store + React Query</a:t>
            </a:r>
            <a:endParaRPr lang="en-US" sz="11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 with JWT + auto-retry</a:t>
            </a:r>
            <a:endParaRPr lang="en-US" sz="11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 client (realtime)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064264" y="3412541"/>
            <a:ext cx="273588" cy="124358"/>
          </a:xfrm>
          <a:prstGeom prst="rightArrow">
            <a:avLst/>
          </a:prstGeom>
          <a:solidFill>
            <a:srgbClr val="F59E0B"/>
          </a:solidFill>
          <a:ln/>
        </p:spPr>
      </p:sp>
      <p:sp>
        <p:nvSpPr>
          <p:cNvPr id="11" name="Shape 9"/>
          <p:cNvSpPr/>
          <p:nvPr/>
        </p:nvSpPr>
        <p:spPr>
          <a:xfrm>
            <a:off x="4429658" y="1874520"/>
            <a:ext cx="3332378" cy="3200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E1B3A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429658" y="1874520"/>
            <a:ext cx="3332378" cy="5486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3" name="Text 11"/>
          <p:cNvSpPr/>
          <p:nvPr/>
        </p:nvSpPr>
        <p:spPr>
          <a:xfrm>
            <a:off x="4566818" y="1874520"/>
            <a:ext cx="30580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(NestJS on Render)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703978" y="2651760"/>
            <a:ext cx="2829458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domain modules</a:t>
            </a:r>
            <a:endParaRPr lang="en-US" sz="11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 + RBAC guards</a:t>
            </a:r>
            <a:endParaRPr lang="en-US" sz="11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middleware (AsyncLocalStorage)</a:t>
            </a:r>
            <a:endParaRPr lang="en-US" sz="11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BullMQ workers + WebSocket gateway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853843" y="3412541"/>
            <a:ext cx="273588" cy="124358"/>
          </a:xfrm>
          <a:prstGeom prst="rightArrow">
            <a:avLst/>
          </a:prstGeom>
          <a:solidFill>
            <a:srgbClr val="F59E0B"/>
          </a:solidFill>
          <a:ln/>
        </p:spPr>
      </p:sp>
      <p:sp>
        <p:nvSpPr>
          <p:cNvPr id="16" name="Shape 14"/>
          <p:cNvSpPr/>
          <p:nvPr/>
        </p:nvSpPr>
        <p:spPr>
          <a:xfrm>
            <a:off x="8219237" y="1874520"/>
            <a:ext cx="3332378" cy="3200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E1B3A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19237" y="1874520"/>
            <a:ext cx="3332378" cy="5486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8356397" y="1874520"/>
            <a:ext cx="30580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SERVICES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493557" y="2651760"/>
            <a:ext cx="2829458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(Neon) via Prisma</a:t>
            </a:r>
            <a:endParaRPr lang="en-US" sz="11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(Upstash) cache + queues</a:t>
            </a:r>
            <a:endParaRPr lang="en-US" sz="11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S3 (documents)</a:t>
            </a:r>
            <a:endParaRPr lang="en-US" sz="11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Cloud (RAG) · Resend (email)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40080" y="534924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JWT auth   ·   HTTPS everywhere   ·   CORS locked to the Vercel origin   ·   per-firm data isolation on every request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185855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LexManage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— APPLICATION STACK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86868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Frontend &amp; Backend Technology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5440680" cy="4434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E1B3A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691640"/>
            <a:ext cx="5440680" cy="566928"/>
          </a:xfrm>
          <a:prstGeom prst="rect">
            <a:avLst/>
          </a:prstGeom>
          <a:solidFill>
            <a:srgbClr val="0E1B3A"/>
          </a:solidFill>
          <a:ln/>
        </p:spPr>
      </p:sp>
      <p:sp>
        <p:nvSpPr>
          <p:cNvPr id="8" name="Shape 6"/>
          <p:cNvSpPr/>
          <p:nvPr/>
        </p:nvSpPr>
        <p:spPr>
          <a:xfrm>
            <a:off x="804672" y="1792224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9" name="Shape 7"/>
          <p:cNvSpPr/>
          <p:nvPr/>
        </p:nvSpPr>
        <p:spPr>
          <a:xfrm>
            <a:off x="907670" y="1906634"/>
            <a:ext cx="159764" cy="136941"/>
          </a:xfrm>
          <a:prstGeom prst="hexagon">
            <a:avLst/>
          </a:prstGeom>
          <a:solidFill>
            <a:srgbClr val="0E1B3A"/>
          </a:solidFill>
          <a:ln/>
        </p:spPr>
      </p:sp>
      <p:sp>
        <p:nvSpPr>
          <p:cNvPr id="10" name="Text 8"/>
          <p:cNvSpPr/>
          <p:nvPr/>
        </p:nvSpPr>
        <p:spPr>
          <a:xfrm>
            <a:off x="1280160" y="1691640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 rot="2700000">
            <a:off x="873435" y="2524841"/>
            <a:ext cx="18105" cy="60350"/>
          </a:xfrm>
          <a:prstGeom prst="rect">
            <a:avLst/>
          </a:prstGeom>
          <a:solidFill>
            <a:srgbClr val="0E9F6E"/>
          </a:solidFill>
          <a:ln/>
        </p:spPr>
      </p:sp>
      <p:sp>
        <p:nvSpPr>
          <p:cNvPr id="12" name="Shape 10"/>
          <p:cNvSpPr/>
          <p:nvPr/>
        </p:nvSpPr>
        <p:spPr>
          <a:xfrm rot="-2700000">
            <a:off x="921715" y="2492654"/>
            <a:ext cx="18105" cy="104607"/>
          </a:xfrm>
          <a:prstGeom prst="rect">
            <a:avLst/>
          </a:prstGeom>
          <a:solidFill>
            <a:srgbClr val="0E9F6E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2395728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+ Vite  </a:t>
            </a:r>
            <a:pPr indent="0" marL="0">
              <a:lnSpc>
                <a:spcPct val="98000"/>
              </a:lnSpc>
              <a:buNone/>
            </a:pPr>
            <a:r>
              <a:rPr lang="en-US" sz="9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SPA with an extremely fast build, HMR, and lazy-loaded, code-split routes for a fast first paint on mobile.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 rot="2700000">
            <a:off x="873435" y="3128345"/>
            <a:ext cx="18105" cy="60350"/>
          </a:xfrm>
          <a:prstGeom prst="rect">
            <a:avLst/>
          </a:prstGeom>
          <a:solidFill>
            <a:srgbClr val="0E9F6E"/>
          </a:solidFill>
          <a:ln/>
        </p:spPr>
      </p:sp>
      <p:sp>
        <p:nvSpPr>
          <p:cNvPr id="15" name="Shape 13"/>
          <p:cNvSpPr/>
          <p:nvPr/>
        </p:nvSpPr>
        <p:spPr>
          <a:xfrm rot="-2700000">
            <a:off x="921715" y="3096158"/>
            <a:ext cx="18105" cy="104607"/>
          </a:xfrm>
          <a:prstGeom prst="rect">
            <a:avLst/>
          </a:prstGeom>
          <a:solidFill>
            <a:srgbClr val="0E9F6E"/>
          </a:solidFill>
          <a:ln/>
        </p:spPr>
      </p:sp>
      <p:sp>
        <p:nvSpPr>
          <p:cNvPr id="16" name="Text 14"/>
          <p:cNvSpPr/>
          <p:nvPr/>
        </p:nvSpPr>
        <p:spPr>
          <a:xfrm>
            <a:off x="1143000" y="2999232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 </a:t>
            </a:r>
            <a:pPr indent="0" marL="0">
              <a:lnSpc>
                <a:spcPct val="98000"/>
              </a:lnSpc>
              <a:buNone/>
            </a:pPr>
            <a:r>
              <a:rPr lang="en-US" sz="9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Utility-first navy/amber design system with full dark mode and responsive, mobile-first layouts.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 rot="2700000">
            <a:off x="873435" y="3731849"/>
            <a:ext cx="18105" cy="60350"/>
          </a:xfrm>
          <a:prstGeom prst="rect">
            <a:avLst/>
          </a:prstGeom>
          <a:solidFill>
            <a:srgbClr val="0E9F6E"/>
          </a:solidFill>
          <a:ln/>
        </p:spPr>
      </p:sp>
      <p:sp>
        <p:nvSpPr>
          <p:cNvPr id="18" name="Shape 16"/>
          <p:cNvSpPr/>
          <p:nvPr/>
        </p:nvSpPr>
        <p:spPr>
          <a:xfrm rot="-2700000">
            <a:off x="921715" y="3699662"/>
            <a:ext cx="18105" cy="104607"/>
          </a:xfrm>
          <a:prstGeom prst="rect">
            <a:avLst/>
          </a:prstGeom>
          <a:solidFill>
            <a:srgbClr val="0E9F6E"/>
          </a:solidFill>
          <a:ln/>
        </p:spPr>
      </p:sp>
      <p:sp>
        <p:nvSpPr>
          <p:cNvPr id="19" name="Text 17"/>
          <p:cNvSpPr/>
          <p:nvPr/>
        </p:nvSpPr>
        <p:spPr>
          <a:xfrm>
            <a:off x="1143000" y="3602736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Zustand  </a:t>
            </a:r>
            <a:pPr indent="0" marL="0">
              <a:lnSpc>
                <a:spcPct val="98000"/>
              </a:lnSpc>
              <a:buNone/>
            </a:pPr>
            <a:r>
              <a:rPr lang="en-US" sz="9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global store (auth, language, UI); persists the session and syncs login/logout across tabs.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 rot="2700000">
            <a:off x="873435" y="4335353"/>
            <a:ext cx="18105" cy="60350"/>
          </a:xfrm>
          <a:prstGeom prst="rect">
            <a:avLst/>
          </a:prstGeom>
          <a:solidFill>
            <a:srgbClr val="0E9F6E"/>
          </a:solidFill>
          <a:ln/>
        </p:spPr>
      </p:sp>
      <p:sp>
        <p:nvSpPr>
          <p:cNvPr id="21" name="Shape 19"/>
          <p:cNvSpPr/>
          <p:nvPr/>
        </p:nvSpPr>
        <p:spPr>
          <a:xfrm rot="-2700000">
            <a:off x="921715" y="4303166"/>
            <a:ext cx="18105" cy="104607"/>
          </a:xfrm>
          <a:prstGeom prst="rect">
            <a:avLst/>
          </a:prstGeom>
          <a:solidFill>
            <a:srgbClr val="0E9F6E"/>
          </a:solidFill>
          <a:ln/>
        </p:spPr>
      </p:sp>
      <p:sp>
        <p:nvSpPr>
          <p:cNvPr id="22" name="Text 20"/>
          <p:cNvSpPr/>
          <p:nvPr/>
        </p:nvSpPr>
        <p:spPr>
          <a:xfrm>
            <a:off x="1143000" y="4206240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TanStack React Query  </a:t>
            </a:r>
            <a:pPr indent="0" marL="0">
              <a:lnSpc>
                <a:spcPct val="98000"/>
              </a:lnSpc>
              <a:buNone/>
            </a:pPr>
            <a:r>
              <a:rPr lang="en-US" sz="9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Server-state caching, background refetch, and useInfiniteQuery for cursor pagination; auto-invalidates on writes.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 rot="2700000">
            <a:off x="873435" y="4938857"/>
            <a:ext cx="18105" cy="60350"/>
          </a:xfrm>
          <a:prstGeom prst="rect">
            <a:avLst/>
          </a:prstGeom>
          <a:solidFill>
            <a:srgbClr val="0E9F6E"/>
          </a:solidFill>
          <a:ln/>
        </p:spPr>
      </p:sp>
      <p:sp>
        <p:nvSpPr>
          <p:cNvPr id="24" name="Shape 22"/>
          <p:cNvSpPr/>
          <p:nvPr/>
        </p:nvSpPr>
        <p:spPr>
          <a:xfrm rot="-2700000">
            <a:off x="921715" y="4906670"/>
            <a:ext cx="18105" cy="104607"/>
          </a:xfrm>
          <a:prstGeom prst="rect">
            <a:avLst/>
          </a:prstGeom>
          <a:solidFill>
            <a:srgbClr val="0E9F6E"/>
          </a:solidFill>
          <a:ln/>
        </p:spPr>
      </p:sp>
      <p:sp>
        <p:nvSpPr>
          <p:cNvPr id="25" name="Text 23"/>
          <p:cNvSpPr/>
          <p:nvPr/>
        </p:nvSpPr>
        <p:spPr>
          <a:xfrm>
            <a:off x="1143000" y="4809744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Hook Form + Zod  </a:t>
            </a:r>
            <a:pPr indent="0" marL="0">
              <a:lnSpc>
                <a:spcPct val="98000"/>
              </a:lnSpc>
              <a:buNone/>
            </a:pPr>
            <a:r>
              <a:rPr lang="en-US" sz="9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Performant forms using the SAME Zod schemas as the backend — one validation contract end-to-end.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 rot="2700000">
            <a:off x="873435" y="5542361"/>
            <a:ext cx="18105" cy="60350"/>
          </a:xfrm>
          <a:prstGeom prst="rect">
            <a:avLst/>
          </a:prstGeom>
          <a:solidFill>
            <a:srgbClr val="0E9F6E"/>
          </a:solidFill>
          <a:ln/>
        </p:spPr>
      </p:sp>
      <p:sp>
        <p:nvSpPr>
          <p:cNvPr id="27" name="Shape 25"/>
          <p:cNvSpPr/>
          <p:nvPr/>
        </p:nvSpPr>
        <p:spPr>
          <a:xfrm rot="-2700000">
            <a:off x="921715" y="5510174"/>
            <a:ext cx="18105" cy="104607"/>
          </a:xfrm>
          <a:prstGeom prst="rect">
            <a:avLst/>
          </a:prstGeom>
          <a:solidFill>
            <a:srgbClr val="0E9F6E"/>
          </a:solidFill>
          <a:ln/>
        </p:spPr>
      </p:sp>
      <p:sp>
        <p:nvSpPr>
          <p:cNvPr id="28" name="Text 26"/>
          <p:cNvSpPr/>
          <p:nvPr/>
        </p:nvSpPr>
        <p:spPr>
          <a:xfrm>
            <a:off x="1143000" y="5413248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· Socket.io · Recharts · Sonner  </a:t>
            </a:r>
            <a:pPr indent="0" marL="0">
              <a:lnSpc>
                <a:spcPct val="98000"/>
              </a:lnSpc>
              <a:buNone/>
            </a:pPr>
            <a:r>
              <a:rPr lang="en-US" sz="9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routing, realtime updates, dashboard charts and toast notifications.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382512" y="1691640"/>
            <a:ext cx="5440680" cy="4434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E1B3A">
                <a:alpha val="1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382512" y="1691640"/>
            <a:ext cx="5440680" cy="566928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1" name="Shape 29"/>
          <p:cNvSpPr/>
          <p:nvPr/>
        </p:nvSpPr>
        <p:spPr>
          <a:xfrm>
            <a:off x="6547104" y="1792224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2" name="Shape 30"/>
          <p:cNvSpPr/>
          <p:nvPr/>
        </p:nvSpPr>
        <p:spPr>
          <a:xfrm>
            <a:off x="6657710" y="1910438"/>
            <a:ext cx="144548" cy="53255"/>
          </a:xfrm>
          <a:prstGeom prst="roundRect">
            <a:avLst>
              <a:gd name="adj" fmla="val 10714"/>
            </a:avLst>
          </a:prstGeom>
          <a:solidFill>
            <a:srgbClr val="B45309"/>
          </a:solidFill>
          <a:ln/>
        </p:spPr>
      </p:sp>
      <p:sp>
        <p:nvSpPr>
          <p:cNvPr id="33" name="Shape 31"/>
          <p:cNvSpPr/>
          <p:nvPr/>
        </p:nvSpPr>
        <p:spPr>
          <a:xfrm>
            <a:off x="6657710" y="1982712"/>
            <a:ext cx="144548" cy="53255"/>
          </a:xfrm>
          <a:prstGeom prst="roundRect">
            <a:avLst>
              <a:gd name="adj" fmla="val 10714"/>
            </a:avLst>
          </a:prstGeom>
          <a:solidFill>
            <a:srgbClr val="B45309"/>
          </a:solidFill>
          <a:ln/>
        </p:spPr>
      </p:sp>
      <p:sp>
        <p:nvSpPr>
          <p:cNvPr id="34" name="Shape 32"/>
          <p:cNvSpPr/>
          <p:nvPr/>
        </p:nvSpPr>
        <p:spPr>
          <a:xfrm>
            <a:off x="6672925" y="1929457"/>
            <a:ext cx="17118" cy="1711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5" name="Shape 33"/>
          <p:cNvSpPr/>
          <p:nvPr/>
        </p:nvSpPr>
        <p:spPr>
          <a:xfrm>
            <a:off x="6672925" y="2001731"/>
            <a:ext cx="17118" cy="1711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7022592" y="1691640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 rot="2700000">
            <a:off x="6615867" y="2524841"/>
            <a:ext cx="18105" cy="60350"/>
          </a:xfrm>
          <a:prstGeom prst="rect">
            <a:avLst/>
          </a:prstGeom>
          <a:solidFill>
            <a:srgbClr val="0E9F6E"/>
          </a:solidFill>
          <a:ln/>
        </p:spPr>
      </p:sp>
      <p:sp>
        <p:nvSpPr>
          <p:cNvPr id="38" name="Shape 36"/>
          <p:cNvSpPr/>
          <p:nvPr/>
        </p:nvSpPr>
        <p:spPr>
          <a:xfrm rot="-2700000">
            <a:off x="6664147" y="2492654"/>
            <a:ext cx="18105" cy="104607"/>
          </a:xfrm>
          <a:prstGeom prst="rect">
            <a:avLst/>
          </a:prstGeom>
          <a:solidFill>
            <a:srgbClr val="0E9F6E"/>
          </a:solidFill>
          <a:ln/>
        </p:spPr>
      </p:sp>
      <p:sp>
        <p:nvSpPr>
          <p:cNvPr id="39" name="Text 37"/>
          <p:cNvSpPr/>
          <p:nvPr/>
        </p:nvSpPr>
        <p:spPr>
          <a:xfrm>
            <a:off x="6885432" y="2395728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NestJS (TypeScript)  </a:t>
            </a:r>
            <a:pPr indent="0" marL="0">
              <a:lnSpc>
                <a:spcPct val="98000"/>
              </a:lnSpc>
              <a:buNone/>
            </a:pPr>
            <a:r>
              <a:rPr lang="en-US" sz="9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framework with DI. 17 feature modules, each a controller + service (auth, cases, documents, search, AI…).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 rot="2700000">
            <a:off x="6615867" y="3128345"/>
            <a:ext cx="18105" cy="60350"/>
          </a:xfrm>
          <a:prstGeom prst="rect">
            <a:avLst/>
          </a:prstGeom>
          <a:solidFill>
            <a:srgbClr val="0E9F6E"/>
          </a:solidFill>
          <a:ln/>
        </p:spPr>
      </p:sp>
      <p:sp>
        <p:nvSpPr>
          <p:cNvPr id="41" name="Shape 39"/>
          <p:cNvSpPr/>
          <p:nvPr/>
        </p:nvSpPr>
        <p:spPr>
          <a:xfrm rot="-2700000">
            <a:off x="6664147" y="3096158"/>
            <a:ext cx="18105" cy="104607"/>
          </a:xfrm>
          <a:prstGeom prst="rect">
            <a:avLst/>
          </a:prstGeom>
          <a:solidFill>
            <a:srgbClr val="0E9F6E"/>
          </a:solidFill>
          <a:ln/>
        </p:spPr>
      </p:sp>
      <p:sp>
        <p:nvSpPr>
          <p:cNvPr id="42" name="Text 40"/>
          <p:cNvSpPr/>
          <p:nvPr/>
        </p:nvSpPr>
        <p:spPr>
          <a:xfrm>
            <a:off x="6885432" y="2999232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ORM + PostgreSQL  </a:t>
            </a:r>
            <a:pPr indent="0" marL="0">
              <a:lnSpc>
                <a:spcPct val="98000"/>
              </a:lnSpc>
              <a:buNone/>
            </a:pPr>
            <a:r>
              <a:rPr lang="en-US" sz="9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Type-safe access over 13 models; all queries parameterised — safe from SQL injection by default.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 rot="2700000">
            <a:off x="6615867" y="3731849"/>
            <a:ext cx="18105" cy="60350"/>
          </a:xfrm>
          <a:prstGeom prst="rect">
            <a:avLst/>
          </a:prstGeom>
          <a:solidFill>
            <a:srgbClr val="0E9F6E"/>
          </a:solidFill>
          <a:ln/>
        </p:spPr>
      </p:sp>
      <p:sp>
        <p:nvSpPr>
          <p:cNvPr id="44" name="Shape 42"/>
          <p:cNvSpPr/>
          <p:nvPr/>
        </p:nvSpPr>
        <p:spPr>
          <a:xfrm rot="-2700000">
            <a:off x="6664147" y="3699662"/>
            <a:ext cx="18105" cy="104607"/>
          </a:xfrm>
          <a:prstGeom prst="rect">
            <a:avLst/>
          </a:prstGeom>
          <a:solidFill>
            <a:srgbClr val="0E9F6E"/>
          </a:solidFill>
          <a:ln/>
        </p:spPr>
      </p:sp>
      <p:sp>
        <p:nvSpPr>
          <p:cNvPr id="45" name="Text 43"/>
          <p:cNvSpPr/>
          <p:nvPr/>
        </p:nvSpPr>
        <p:spPr>
          <a:xfrm>
            <a:off x="6885432" y="3602736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  </a:t>
            </a:r>
            <a:pPr indent="0" marL="0">
              <a:lnSpc>
                <a:spcPct val="98000"/>
              </a:lnSpc>
              <a:buNone/>
            </a:pPr>
            <a:r>
              <a:rPr lang="en-US" sz="9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15-min access + 7-day refresh tokens with rotation; passwords hashed with bcrypt (cost 12).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 rot="2700000">
            <a:off x="6615867" y="4335353"/>
            <a:ext cx="18105" cy="60350"/>
          </a:xfrm>
          <a:prstGeom prst="rect">
            <a:avLst/>
          </a:prstGeom>
          <a:solidFill>
            <a:srgbClr val="0E9F6E"/>
          </a:solidFill>
          <a:ln/>
        </p:spPr>
      </p:sp>
      <p:sp>
        <p:nvSpPr>
          <p:cNvPr id="47" name="Shape 45"/>
          <p:cNvSpPr/>
          <p:nvPr/>
        </p:nvSpPr>
        <p:spPr>
          <a:xfrm rot="-2700000">
            <a:off x="6664147" y="4303166"/>
            <a:ext cx="18105" cy="104607"/>
          </a:xfrm>
          <a:prstGeom prst="rect">
            <a:avLst/>
          </a:prstGeom>
          <a:solidFill>
            <a:srgbClr val="0E9F6E"/>
          </a:solidFill>
          <a:ln/>
        </p:spPr>
      </p:sp>
      <p:sp>
        <p:nvSpPr>
          <p:cNvPr id="48" name="Text 46"/>
          <p:cNvSpPr/>
          <p:nvPr/>
        </p:nvSpPr>
        <p:spPr>
          <a:xfrm>
            <a:off x="6885432" y="4206240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BullMQ + Redis  </a:t>
            </a:r>
            <a:pPr indent="0" marL="0">
              <a:lnSpc>
                <a:spcPct val="98000"/>
              </a:lnSpc>
              <a:buNone/>
            </a:pPr>
            <a:r>
              <a:rPr lang="en-US" sz="9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Delayed-job queues for scheduled notifications and email; Redis also powers the response cache.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 rot="2700000">
            <a:off x="6615867" y="4938857"/>
            <a:ext cx="18105" cy="60350"/>
          </a:xfrm>
          <a:prstGeom prst="rect">
            <a:avLst/>
          </a:prstGeom>
          <a:solidFill>
            <a:srgbClr val="0E9F6E"/>
          </a:solidFill>
          <a:ln/>
        </p:spPr>
      </p:sp>
      <p:sp>
        <p:nvSpPr>
          <p:cNvPr id="50" name="Shape 48"/>
          <p:cNvSpPr/>
          <p:nvPr/>
        </p:nvSpPr>
        <p:spPr>
          <a:xfrm rot="-2700000">
            <a:off x="6664147" y="4906670"/>
            <a:ext cx="18105" cy="104607"/>
          </a:xfrm>
          <a:prstGeom prst="rect">
            <a:avLst/>
          </a:prstGeom>
          <a:solidFill>
            <a:srgbClr val="0E9F6E"/>
          </a:solidFill>
          <a:ln/>
        </p:spPr>
      </p:sp>
      <p:sp>
        <p:nvSpPr>
          <p:cNvPr id="51" name="Text 49"/>
          <p:cNvSpPr/>
          <p:nvPr/>
        </p:nvSpPr>
        <p:spPr>
          <a:xfrm>
            <a:off x="6885432" y="4809744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 Gateway  </a:t>
            </a:r>
            <a:pPr indent="0" marL="0">
              <a:lnSpc>
                <a:spcPct val="98000"/>
              </a:lnSpc>
              <a:buNone/>
            </a:pPr>
            <a:r>
              <a:rPr lang="en-US" sz="9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Authenticated WebSockets; clients join tenant_&lt;id&gt; / user_&lt;id&gt; rooms so realtime never leaks across firms.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 rot="2700000">
            <a:off x="6615867" y="5542361"/>
            <a:ext cx="18105" cy="60350"/>
          </a:xfrm>
          <a:prstGeom prst="rect">
            <a:avLst/>
          </a:prstGeom>
          <a:solidFill>
            <a:srgbClr val="0E9F6E"/>
          </a:solidFill>
          <a:ln/>
        </p:spPr>
      </p:sp>
      <p:sp>
        <p:nvSpPr>
          <p:cNvPr id="53" name="Shape 51"/>
          <p:cNvSpPr/>
          <p:nvPr/>
        </p:nvSpPr>
        <p:spPr>
          <a:xfrm rot="-2700000">
            <a:off x="6664147" y="5510174"/>
            <a:ext cx="18105" cy="104607"/>
          </a:xfrm>
          <a:prstGeom prst="rect">
            <a:avLst/>
          </a:prstGeom>
          <a:solidFill>
            <a:srgbClr val="0E9F6E"/>
          </a:solidFill>
          <a:ln/>
        </p:spPr>
      </p:sp>
      <p:sp>
        <p:nvSpPr>
          <p:cNvPr id="54" name="Text 52"/>
          <p:cNvSpPr/>
          <p:nvPr/>
        </p:nvSpPr>
        <p:spPr>
          <a:xfrm>
            <a:off x="6885432" y="5413248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Helmet · Throttler · ValidationPipe  </a:t>
            </a:r>
            <a:pPr indent="0" marL="0">
              <a:lnSpc>
                <a:spcPct val="98000"/>
              </a:lnSpc>
              <a:buNone/>
            </a:pPr>
            <a:r>
              <a:rPr lang="en-US" sz="9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headers, rate limiting (10/s · 60/min · 600/h) and strict whitelist input validation.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185855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LexManage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— DATA, STORAGE &amp; SECURITY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86868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Persistence, Isolation &amp; Security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737360"/>
            <a:ext cx="5394960" cy="41605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E1B3A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1965960"/>
            <a:ext cx="640080" cy="640080"/>
          </a:xfrm>
          <a:prstGeom prst="ellipse">
            <a:avLst/>
          </a:prstGeom>
          <a:solidFill>
            <a:srgbClr val="0E1B3A"/>
          </a:solidFill>
          <a:ln/>
        </p:spPr>
      </p:sp>
      <p:sp>
        <p:nvSpPr>
          <p:cNvPr id="8" name="Shape 6"/>
          <p:cNvSpPr/>
          <p:nvPr/>
        </p:nvSpPr>
        <p:spPr>
          <a:xfrm>
            <a:off x="1127931" y="2152863"/>
            <a:ext cx="213019" cy="266273"/>
          </a:xfrm>
          <a:prstGeom prst="can">
            <a:avLst/>
          </a:prstGeom>
          <a:solidFill>
            <a:srgbClr val="F59E0B"/>
          </a:solidFill>
          <a:ln/>
        </p:spPr>
      </p:sp>
      <p:sp>
        <p:nvSpPr>
          <p:cNvPr id="9" name="Shape 7"/>
          <p:cNvSpPr/>
          <p:nvPr/>
        </p:nvSpPr>
        <p:spPr>
          <a:xfrm>
            <a:off x="1127931" y="2259373"/>
            <a:ext cx="213019" cy="5325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1127931" y="2325941"/>
            <a:ext cx="213019" cy="5325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1691640" y="196596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Data, Storage &amp; Tenancy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60120" y="2697480"/>
            <a:ext cx="480060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3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(Neon serverless) — all structured data, accessed through Prisma.</a:t>
            </a:r>
            <a:endParaRPr lang="en-US" sz="113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3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S3 storage — documents via AWS SDK v3 (forcePathStyle), one shared bucket.</a:t>
            </a:r>
            <a:endParaRPr lang="en-US" sz="113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3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Key-prefix isolation — every object lives under {tenantId}/… so firms’ files never collide.</a:t>
            </a:r>
            <a:endParaRPr lang="en-US" sz="113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3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URLs — 15-min download links for documents; 7-day links for logos.</a:t>
            </a:r>
            <a:endParaRPr lang="en-US" sz="1130" dirty="0"/>
          </a:p>
          <a:p>
            <a:pPr marL="177800" indent="-177800">
              <a:buSzPct val="100000"/>
              <a:buChar char="•"/>
            </a:pPr>
            <a:r>
              <a:rPr lang="en-US" sz="113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scoping — JWT carries tenantId; middleware stores it in AsyncLocalStorage and every query is filtered by it.</a:t>
            </a:r>
            <a:endParaRPr lang="en-US" sz="1130" dirty="0"/>
          </a:p>
        </p:txBody>
      </p:sp>
      <p:sp>
        <p:nvSpPr>
          <p:cNvPr id="13" name="Shape 11"/>
          <p:cNvSpPr/>
          <p:nvPr/>
        </p:nvSpPr>
        <p:spPr>
          <a:xfrm>
            <a:off x="6355080" y="1737360"/>
            <a:ext cx="5196535" cy="4160520"/>
          </a:xfrm>
          <a:prstGeom prst="rect">
            <a:avLst/>
          </a:prstGeom>
          <a:solidFill>
            <a:srgbClr val="0E1B3A"/>
          </a:solidFill>
          <a:ln/>
          <a:effectLst>
            <a:outerShdw sx="100000" sy="100000" kx="0" ky="0" algn="bl" rotWithShape="0" blurRad="114300" dist="38100" dir="5400000">
              <a:srgbClr val="0E1B3A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629400" y="1965960"/>
            <a:ext cx="640080" cy="6400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5" name="Shape 13"/>
          <p:cNvSpPr/>
          <p:nvPr/>
        </p:nvSpPr>
        <p:spPr>
          <a:xfrm rot="10800000">
            <a:off x="6836274" y="2146207"/>
            <a:ext cx="226332" cy="279587"/>
          </a:xfrm>
          <a:prstGeom prst="pentagon">
            <a:avLst/>
          </a:prstGeom>
          <a:solidFill>
            <a:srgbClr val="0E1B3A"/>
          </a:solidFill>
          <a:ln/>
        </p:spPr>
      </p:sp>
      <p:sp>
        <p:nvSpPr>
          <p:cNvPr id="16" name="Shape 14"/>
          <p:cNvSpPr/>
          <p:nvPr/>
        </p:nvSpPr>
        <p:spPr>
          <a:xfrm rot="2700000">
            <a:off x="6896185" y="2272686"/>
            <a:ext cx="23299" cy="59911"/>
          </a:xfrm>
          <a:prstGeom prst="rect">
            <a:avLst/>
          </a:prstGeom>
          <a:solidFill>
            <a:srgbClr val="0E1B3A"/>
          </a:solidFill>
          <a:ln/>
        </p:spPr>
      </p:sp>
      <p:sp>
        <p:nvSpPr>
          <p:cNvPr id="17" name="Shape 15"/>
          <p:cNvSpPr/>
          <p:nvPr/>
        </p:nvSpPr>
        <p:spPr>
          <a:xfrm rot="-2700000">
            <a:off x="6932798" y="2232745"/>
            <a:ext cx="23299" cy="113166"/>
          </a:xfrm>
          <a:prstGeom prst="rect">
            <a:avLst/>
          </a:prstGeom>
          <a:solidFill>
            <a:srgbClr val="0E1B3A"/>
          </a:solidFill>
          <a:ln/>
        </p:spPr>
      </p:sp>
      <p:sp>
        <p:nvSpPr>
          <p:cNvPr id="18" name="Text 16"/>
          <p:cNvSpPr/>
          <p:nvPr/>
        </p:nvSpPr>
        <p:spPr>
          <a:xfrm>
            <a:off x="7406640" y="1965960"/>
            <a:ext cx="40078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Compliance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675120" y="2697480"/>
            <a:ext cx="4602175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3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signatures verified with a pinned HS256 algorithm; refresh-token rotation on every use.</a:t>
            </a:r>
            <a:endParaRPr lang="en-US" sz="113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3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password hashing (cost 12); secrets never logged.</a:t>
            </a:r>
            <a:endParaRPr lang="en-US" sz="113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3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— 5 roles (Super Admin → Secretary); admin routes guarded at router + controller level.</a:t>
            </a:r>
            <a:endParaRPr lang="en-US" sz="113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3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Helmet headers, rate limiting, forced HTTPS, CORS locked to the Vercel origin.</a:t>
            </a:r>
            <a:endParaRPr lang="en-US" sz="1130" dirty="0"/>
          </a:p>
          <a:p>
            <a:pPr marL="177800" indent="-177800">
              <a:buSzPct val="100000"/>
              <a:buChar char="•"/>
            </a:pPr>
            <a:r>
              <a:rPr lang="en-US" sz="113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 of sensitive actions; documents reachable only via short-lived signed URLs.</a:t>
            </a:r>
            <a:endParaRPr lang="en-US" sz="113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185855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LexManage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— ARTIFICIAL INTELLIGENCE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86868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LexAssist AI — Retrieval-Augmented Generation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536192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uploaded to the DMS are pushed to an n8n Cloud workflow that indexes them into a per-firm knowledge base. Questions are answered using only that firm’s content.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286000"/>
            <a:ext cx="1977481" cy="28803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E1B3A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263061" y="2542032"/>
            <a:ext cx="731520" cy="731520"/>
          </a:xfrm>
          <a:prstGeom prst="ellipse">
            <a:avLst/>
          </a:prstGeom>
          <a:solidFill>
            <a:srgbClr val="0E1B3A"/>
          </a:solidFill>
          <a:ln/>
        </p:spPr>
      </p:sp>
      <p:sp>
        <p:nvSpPr>
          <p:cNvPr id="9" name="Shape 7"/>
          <p:cNvSpPr/>
          <p:nvPr/>
        </p:nvSpPr>
        <p:spPr>
          <a:xfrm>
            <a:off x="1514704" y="2755636"/>
            <a:ext cx="228234" cy="30431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Shape 8"/>
          <p:cNvSpPr/>
          <p:nvPr/>
        </p:nvSpPr>
        <p:spPr>
          <a:xfrm rot="5400000">
            <a:off x="1674468" y="2755636"/>
            <a:ext cx="68470" cy="6847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1552743" y="2869753"/>
            <a:ext cx="152156" cy="190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1552743" y="2926812"/>
            <a:ext cx="152156" cy="190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1552743" y="2983870"/>
            <a:ext cx="98902" cy="190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383280"/>
            <a:ext cx="179460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Upload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86384" y="3767328"/>
            <a:ext cx="1684873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uploads a PDF/DOCX to the DMS; it is stored in Supabase S3 under the tenant prefix.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2649017" y="2918765"/>
            <a:ext cx="193121" cy="87782"/>
          </a:xfrm>
          <a:prstGeom prst="rightArrow">
            <a:avLst/>
          </a:prstGeom>
          <a:solidFill>
            <a:srgbClr val="F59E0B"/>
          </a:solidFill>
          <a:ln/>
        </p:spPr>
      </p:sp>
      <p:sp>
        <p:nvSpPr>
          <p:cNvPr id="17" name="Shape 15"/>
          <p:cNvSpPr/>
          <p:nvPr/>
        </p:nvSpPr>
        <p:spPr>
          <a:xfrm>
            <a:off x="2873593" y="2286000"/>
            <a:ext cx="1977481" cy="28803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E1B3A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496574" y="2542032"/>
            <a:ext cx="731520" cy="731520"/>
          </a:xfrm>
          <a:prstGeom prst="ellipse">
            <a:avLst/>
          </a:prstGeom>
          <a:solidFill>
            <a:srgbClr val="0E1B3A"/>
          </a:solidFill>
          <a:ln/>
        </p:spPr>
      </p:sp>
      <p:sp>
        <p:nvSpPr>
          <p:cNvPr id="19" name="Shape 17"/>
          <p:cNvSpPr/>
          <p:nvPr/>
        </p:nvSpPr>
        <p:spPr>
          <a:xfrm>
            <a:off x="3694962" y="2755636"/>
            <a:ext cx="98902" cy="83686"/>
          </a:xfrm>
          <a:prstGeom prst="roundRect">
            <a:avLst>
              <a:gd name="adj" fmla="val 13636"/>
            </a:avLst>
          </a:prstGeom>
          <a:solidFill>
            <a:srgbClr val="F59E0B"/>
          </a:solidFill>
          <a:ln/>
        </p:spPr>
      </p:sp>
      <p:sp>
        <p:nvSpPr>
          <p:cNvPr id="20" name="Shape 18"/>
          <p:cNvSpPr/>
          <p:nvPr/>
        </p:nvSpPr>
        <p:spPr>
          <a:xfrm>
            <a:off x="3930804" y="2865949"/>
            <a:ext cx="98902" cy="83686"/>
          </a:xfrm>
          <a:prstGeom prst="roundRect">
            <a:avLst>
              <a:gd name="adj" fmla="val 13636"/>
            </a:avLst>
          </a:prstGeom>
          <a:solidFill>
            <a:srgbClr val="F59E0B"/>
          </a:solidFill>
          <a:ln/>
        </p:spPr>
      </p:sp>
      <p:sp>
        <p:nvSpPr>
          <p:cNvPr id="21" name="Shape 19"/>
          <p:cNvSpPr/>
          <p:nvPr/>
        </p:nvSpPr>
        <p:spPr>
          <a:xfrm>
            <a:off x="3694962" y="2976262"/>
            <a:ext cx="98902" cy="83686"/>
          </a:xfrm>
          <a:prstGeom prst="roundRect">
            <a:avLst>
              <a:gd name="adj" fmla="val 13636"/>
            </a:avLst>
          </a:prstGeom>
          <a:solidFill>
            <a:srgbClr val="F59E0B"/>
          </a:solidFill>
          <a:ln/>
        </p:spPr>
      </p:sp>
      <p:sp>
        <p:nvSpPr>
          <p:cNvPr id="22" name="Shape 20"/>
          <p:cNvSpPr/>
          <p:nvPr/>
        </p:nvSpPr>
        <p:spPr>
          <a:xfrm>
            <a:off x="3786256" y="2793675"/>
            <a:ext cx="159764" cy="1141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3" name="Shape 21"/>
          <p:cNvSpPr/>
          <p:nvPr/>
        </p:nvSpPr>
        <p:spPr>
          <a:xfrm>
            <a:off x="3938412" y="2797479"/>
            <a:ext cx="11412" cy="7607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4" name="Shape 22"/>
          <p:cNvSpPr/>
          <p:nvPr/>
        </p:nvSpPr>
        <p:spPr>
          <a:xfrm>
            <a:off x="3786256" y="3014301"/>
            <a:ext cx="159764" cy="1141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5" name="Shape 23"/>
          <p:cNvSpPr/>
          <p:nvPr/>
        </p:nvSpPr>
        <p:spPr>
          <a:xfrm>
            <a:off x="3938412" y="2942027"/>
            <a:ext cx="11412" cy="7988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2965033" y="3383280"/>
            <a:ext cx="179460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Ingest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3019897" y="3767328"/>
            <a:ext cx="1684873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backend POSTs the file (base64) to the n8n ingest webhook, scoped by tenantId + userId.</a:t>
            </a:r>
            <a:endParaRPr lang="en-US" sz="980" dirty="0"/>
          </a:p>
        </p:txBody>
      </p:sp>
      <p:sp>
        <p:nvSpPr>
          <p:cNvPr id="28" name="Shape 26"/>
          <p:cNvSpPr/>
          <p:nvPr/>
        </p:nvSpPr>
        <p:spPr>
          <a:xfrm>
            <a:off x="4882530" y="2918765"/>
            <a:ext cx="193121" cy="87782"/>
          </a:xfrm>
          <a:prstGeom prst="rightArrow">
            <a:avLst/>
          </a:prstGeom>
          <a:solidFill>
            <a:srgbClr val="F59E0B"/>
          </a:solidFill>
          <a:ln/>
        </p:spPr>
      </p:sp>
      <p:sp>
        <p:nvSpPr>
          <p:cNvPr id="29" name="Shape 27"/>
          <p:cNvSpPr/>
          <p:nvPr/>
        </p:nvSpPr>
        <p:spPr>
          <a:xfrm>
            <a:off x="5107107" y="2286000"/>
            <a:ext cx="1977481" cy="28803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E1B3A">
                <a:alpha val="1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730088" y="2542032"/>
            <a:ext cx="731520" cy="731520"/>
          </a:xfrm>
          <a:prstGeom prst="ellipse">
            <a:avLst/>
          </a:prstGeom>
          <a:solidFill>
            <a:srgbClr val="0E1B3A"/>
          </a:solidFill>
          <a:ln/>
        </p:spPr>
      </p:sp>
      <p:sp>
        <p:nvSpPr>
          <p:cNvPr id="31" name="Shape 29"/>
          <p:cNvSpPr/>
          <p:nvPr/>
        </p:nvSpPr>
        <p:spPr>
          <a:xfrm>
            <a:off x="5951299" y="2755636"/>
            <a:ext cx="273881" cy="304312"/>
          </a:xfrm>
          <a:prstGeom prst="cube">
            <a:avLst/>
          </a:prstGeom>
          <a:solidFill>
            <a:srgbClr val="F59E0B"/>
          </a:solidFill>
          <a:ln/>
        </p:spPr>
      </p:sp>
      <p:sp>
        <p:nvSpPr>
          <p:cNvPr id="32" name="Text 30"/>
          <p:cNvSpPr/>
          <p:nvPr/>
        </p:nvSpPr>
        <p:spPr>
          <a:xfrm>
            <a:off x="5198547" y="3383280"/>
            <a:ext cx="179460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Index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5253411" y="3767328"/>
            <a:ext cx="1684873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chunks, embeds and stores the content in a tenant-scoped vector knowledge base.</a:t>
            </a:r>
            <a:endParaRPr lang="en-US" sz="980" dirty="0"/>
          </a:p>
        </p:txBody>
      </p:sp>
      <p:sp>
        <p:nvSpPr>
          <p:cNvPr id="34" name="Shape 32"/>
          <p:cNvSpPr/>
          <p:nvPr/>
        </p:nvSpPr>
        <p:spPr>
          <a:xfrm>
            <a:off x="7116044" y="2918765"/>
            <a:ext cx="193121" cy="87782"/>
          </a:xfrm>
          <a:prstGeom prst="rightArrow">
            <a:avLst/>
          </a:prstGeom>
          <a:solidFill>
            <a:srgbClr val="F59E0B"/>
          </a:solidFill>
          <a:ln/>
        </p:spPr>
      </p:sp>
      <p:sp>
        <p:nvSpPr>
          <p:cNvPr id="35" name="Shape 33"/>
          <p:cNvSpPr/>
          <p:nvPr/>
        </p:nvSpPr>
        <p:spPr>
          <a:xfrm>
            <a:off x="7340620" y="2286000"/>
            <a:ext cx="1977481" cy="28803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E1B3A">
                <a:alpha val="16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963601" y="2542032"/>
            <a:ext cx="731520" cy="731520"/>
          </a:xfrm>
          <a:prstGeom prst="ellipse">
            <a:avLst/>
          </a:prstGeom>
          <a:solidFill>
            <a:srgbClr val="0E1B3A"/>
          </a:solidFill>
          <a:ln/>
        </p:spPr>
      </p:sp>
      <p:sp>
        <p:nvSpPr>
          <p:cNvPr id="37" name="Shape 35"/>
          <p:cNvSpPr/>
          <p:nvPr/>
        </p:nvSpPr>
        <p:spPr>
          <a:xfrm>
            <a:off x="8177205" y="2770851"/>
            <a:ext cx="304312" cy="205411"/>
          </a:xfrm>
          <a:prstGeom prst="roundRect">
            <a:avLst>
              <a:gd name="adj" fmla="val 18519"/>
            </a:avLst>
          </a:prstGeom>
          <a:solidFill>
            <a:srgbClr val="F59E0B"/>
          </a:solidFill>
          <a:ln/>
        </p:spPr>
      </p:sp>
      <p:sp>
        <p:nvSpPr>
          <p:cNvPr id="38" name="Shape 36"/>
          <p:cNvSpPr/>
          <p:nvPr/>
        </p:nvSpPr>
        <p:spPr>
          <a:xfrm rot="12000000">
            <a:off x="8230460" y="2953439"/>
            <a:ext cx="83686" cy="83686"/>
          </a:xfrm>
          <a:prstGeom prst="triangle">
            <a:avLst/>
          </a:prstGeom>
          <a:solidFill>
            <a:srgbClr val="F59E0B"/>
          </a:solidFill>
          <a:ln/>
        </p:spPr>
      </p:sp>
      <p:sp>
        <p:nvSpPr>
          <p:cNvPr id="39" name="Shape 37"/>
          <p:cNvSpPr/>
          <p:nvPr/>
        </p:nvSpPr>
        <p:spPr>
          <a:xfrm>
            <a:off x="8238067" y="2854537"/>
            <a:ext cx="38039" cy="38039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0" name="Shape 38"/>
          <p:cNvSpPr/>
          <p:nvPr/>
        </p:nvSpPr>
        <p:spPr>
          <a:xfrm>
            <a:off x="8310342" y="2854537"/>
            <a:ext cx="38039" cy="38039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1" name="Shape 39"/>
          <p:cNvSpPr/>
          <p:nvPr/>
        </p:nvSpPr>
        <p:spPr>
          <a:xfrm>
            <a:off x="8382616" y="2854537"/>
            <a:ext cx="38039" cy="38039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2" name="Text 40"/>
          <p:cNvSpPr/>
          <p:nvPr/>
        </p:nvSpPr>
        <p:spPr>
          <a:xfrm>
            <a:off x="7432060" y="3383280"/>
            <a:ext cx="179460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Ask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7486924" y="3767328"/>
            <a:ext cx="1684873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LexAssist the user asks a question; the backend forwards it to the n8n chat webhook with the session.</a:t>
            </a:r>
            <a:endParaRPr lang="en-US" sz="980" dirty="0"/>
          </a:p>
        </p:txBody>
      </p:sp>
      <p:sp>
        <p:nvSpPr>
          <p:cNvPr id="44" name="Shape 42"/>
          <p:cNvSpPr/>
          <p:nvPr/>
        </p:nvSpPr>
        <p:spPr>
          <a:xfrm>
            <a:off x="9349557" y="2918765"/>
            <a:ext cx="193121" cy="87782"/>
          </a:xfrm>
          <a:prstGeom prst="rightArrow">
            <a:avLst/>
          </a:prstGeom>
          <a:solidFill>
            <a:srgbClr val="F59E0B"/>
          </a:solidFill>
          <a:ln/>
        </p:spPr>
      </p:sp>
      <p:sp>
        <p:nvSpPr>
          <p:cNvPr id="45" name="Shape 43"/>
          <p:cNvSpPr/>
          <p:nvPr/>
        </p:nvSpPr>
        <p:spPr>
          <a:xfrm>
            <a:off x="9574134" y="2286000"/>
            <a:ext cx="1977481" cy="28803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E1B3A">
                <a:alpha val="16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10197114" y="2542032"/>
            <a:ext cx="731520" cy="731520"/>
          </a:xfrm>
          <a:prstGeom prst="ellipse">
            <a:avLst/>
          </a:prstGeom>
          <a:solidFill>
            <a:srgbClr val="0E1B3A"/>
          </a:solidFill>
          <a:ln/>
        </p:spPr>
      </p:sp>
      <p:sp>
        <p:nvSpPr>
          <p:cNvPr id="47" name="Shape 45"/>
          <p:cNvSpPr/>
          <p:nvPr/>
        </p:nvSpPr>
        <p:spPr>
          <a:xfrm>
            <a:off x="10433542" y="2816498"/>
            <a:ext cx="258665" cy="213019"/>
          </a:xfrm>
          <a:prstGeom prst="roundRect">
            <a:avLst>
              <a:gd name="adj" fmla="val 14286"/>
            </a:avLst>
          </a:prstGeom>
          <a:solidFill>
            <a:srgbClr val="F59E0B"/>
          </a:solidFill>
          <a:ln/>
        </p:spPr>
      </p:sp>
      <p:sp>
        <p:nvSpPr>
          <p:cNvPr id="48" name="Shape 46"/>
          <p:cNvSpPr/>
          <p:nvPr/>
        </p:nvSpPr>
        <p:spPr>
          <a:xfrm>
            <a:off x="10490600" y="2877361"/>
            <a:ext cx="53255" cy="5325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9" name="Shape 47"/>
          <p:cNvSpPr/>
          <p:nvPr/>
        </p:nvSpPr>
        <p:spPr>
          <a:xfrm>
            <a:off x="10581894" y="2877361"/>
            <a:ext cx="53255" cy="5325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0" name="Shape 48"/>
          <p:cNvSpPr/>
          <p:nvPr/>
        </p:nvSpPr>
        <p:spPr>
          <a:xfrm>
            <a:off x="10555267" y="2755636"/>
            <a:ext cx="15216" cy="6086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1" name="Shape 49"/>
          <p:cNvSpPr/>
          <p:nvPr/>
        </p:nvSpPr>
        <p:spPr>
          <a:xfrm>
            <a:off x="10540051" y="2732812"/>
            <a:ext cx="45647" cy="45647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52" name="Text 50"/>
          <p:cNvSpPr/>
          <p:nvPr/>
        </p:nvSpPr>
        <p:spPr>
          <a:xfrm>
            <a:off x="9665574" y="3383280"/>
            <a:ext cx="179460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Answer</a:t>
            </a:r>
            <a:endParaRPr lang="en-US" sz="1250" dirty="0"/>
          </a:p>
        </p:txBody>
      </p:sp>
      <p:sp>
        <p:nvSpPr>
          <p:cNvPr id="53" name="Text 51"/>
          <p:cNvSpPr/>
          <p:nvPr/>
        </p:nvSpPr>
        <p:spPr>
          <a:xfrm>
            <a:off x="9720438" y="3767328"/>
            <a:ext cx="1684873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retrieves relevant chunks and returns a grounded answer with sources, saved to chat history.</a:t>
            </a:r>
            <a:endParaRPr lang="en-US" sz="980" dirty="0"/>
          </a:p>
        </p:txBody>
      </p:sp>
      <p:sp>
        <p:nvSpPr>
          <p:cNvPr id="54" name="Text 52"/>
          <p:cNvSpPr/>
          <p:nvPr/>
        </p:nvSpPr>
        <p:spPr>
          <a:xfrm>
            <a:off x="640080" y="544068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isolation extends to AI: each firm’s vector namespace is keyed by tenantId — no cross-firm knowledge leakage.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&amp; DEVOPS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Deployment — A Fully Free, Production-Shaped Stack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393338" cy="1371600"/>
          </a:xfrm>
          <a:prstGeom prst="rect">
            <a:avLst/>
          </a:prstGeom>
          <a:solidFill>
            <a:srgbClr val="16264F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984248"/>
            <a:ext cx="512064" cy="51206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6" name="Shape 4"/>
          <p:cNvSpPr/>
          <p:nvPr/>
        </p:nvSpPr>
        <p:spPr>
          <a:xfrm>
            <a:off x="974794" y="2155073"/>
            <a:ext cx="244971" cy="170415"/>
          </a:xfrm>
          <a:prstGeom prst="cloud">
            <a:avLst/>
          </a:prstGeom>
          <a:solidFill>
            <a:srgbClr val="0E1B3A"/>
          </a:solidFill>
          <a:ln/>
        </p:spPr>
      </p:sp>
      <p:sp>
        <p:nvSpPr>
          <p:cNvPr id="7" name="Text 5"/>
          <p:cNvSpPr/>
          <p:nvPr/>
        </p:nvSpPr>
        <p:spPr>
          <a:xfrm>
            <a:off x="1463040" y="1965960"/>
            <a:ext cx="238749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463040" y="2258568"/>
            <a:ext cx="238749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(React SPA)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41248" y="2560320"/>
            <a:ext cx="302757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93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CDN, SPA routing, auto-deploy on every push to main.</a:t>
            </a:r>
            <a:endParaRPr lang="en-US" sz="930" dirty="0"/>
          </a:p>
        </p:txBody>
      </p:sp>
      <p:sp>
        <p:nvSpPr>
          <p:cNvPr id="10" name="Shape 8"/>
          <p:cNvSpPr/>
          <p:nvPr/>
        </p:nvSpPr>
        <p:spPr>
          <a:xfrm>
            <a:off x="4399178" y="1783080"/>
            <a:ext cx="3393338" cy="1371600"/>
          </a:xfrm>
          <a:prstGeom prst="rect">
            <a:avLst/>
          </a:prstGeom>
          <a:solidFill>
            <a:srgbClr val="16264F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00346" y="1984248"/>
            <a:ext cx="512064" cy="51206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2" name="Shape 10"/>
          <p:cNvSpPr/>
          <p:nvPr/>
        </p:nvSpPr>
        <p:spPr>
          <a:xfrm>
            <a:off x="4755195" y="2149747"/>
            <a:ext cx="202368" cy="74557"/>
          </a:xfrm>
          <a:prstGeom prst="roundRect">
            <a:avLst>
              <a:gd name="adj" fmla="val 10714"/>
            </a:avLst>
          </a:prstGeom>
          <a:solidFill>
            <a:srgbClr val="0E1B3A"/>
          </a:solidFill>
          <a:ln/>
        </p:spPr>
      </p:sp>
      <p:sp>
        <p:nvSpPr>
          <p:cNvPr id="13" name="Shape 11"/>
          <p:cNvSpPr/>
          <p:nvPr/>
        </p:nvSpPr>
        <p:spPr>
          <a:xfrm>
            <a:off x="4755195" y="2250931"/>
            <a:ext cx="202368" cy="74557"/>
          </a:xfrm>
          <a:prstGeom prst="roundRect">
            <a:avLst>
              <a:gd name="adj" fmla="val 10714"/>
            </a:avLst>
          </a:prstGeom>
          <a:solidFill>
            <a:srgbClr val="0E1B3A"/>
          </a:solidFill>
          <a:ln/>
        </p:spPr>
      </p:sp>
      <p:sp>
        <p:nvSpPr>
          <p:cNvPr id="14" name="Shape 12"/>
          <p:cNvSpPr/>
          <p:nvPr/>
        </p:nvSpPr>
        <p:spPr>
          <a:xfrm>
            <a:off x="4776496" y="2176374"/>
            <a:ext cx="23965" cy="2396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4776496" y="2277558"/>
            <a:ext cx="23965" cy="2396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5222138" y="1965960"/>
            <a:ext cx="238749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222138" y="2258568"/>
            <a:ext cx="238749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(NestJS, Docker)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600346" y="2560320"/>
            <a:ext cx="302757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93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Containerised API; Prisma sync on boot; auto-deploy on push.</a:t>
            </a:r>
            <a:endParaRPr lang="en-US" sz="930" dirty="0"/>
          </a:p>
        </p:txBody>
      </p:sp>
      <p:sp>
        <p:nvSpPr>
          <p:cNvPr id="19" name="Shape 17"/>
          <p:cNvSpPr/>
          <p:nvPr/>
        </p:nvSpPr>
        <p:spPr>
          <a:xfrm>
            <a:off x="8158277" y="1783080"/>
            <a:ext cx="3393338" cy="1371600"/>
          </a:xfrm>
          <a:prstGeom prst="rect">
            <a:avLst/>
          </a:prstGeom>
          <a:solidFill>
            <a:srgbClr val="16264F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359445" y="1984248"/>
            <a:ext cx="512064" cy="51206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1" name="Shape 19"/>
          <p:cNvSpPr/>
          <p:nvPr/>
        </p:nvSpPr>
        <p:spPr>
          <a:xfrm>
            <a:off x="8530269" y="2133771"/>
            <a:ext cx="170415" cy="213019"/>
          </a:xfrm>
          <a:prstGeom prst="can">
            <a:avLst/>
          </a:prstGeom>
          <a:solidFill>
            <a:srgbClr val="0E1B3A"/>
          </a:solidFill>
          <a:ln/>
        </p:spPr>
      </p:sp>
      <p:sp>
        <p:nvSpPr>
          <p:cNvPr id="22" name="Shape 20"/>
          <p:cNvSpPr/>
          <p:nvPr/>
        </p:nvSpPr>
        <p:spPr>
          <a:xfrm>
            <a:off x="8530269" y="2218978"/>
            <a:ext cx="170415" cy="426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8530269" y="2272233"/>
            <a:ext cx="170415" cy="426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8981237" y="1965960"/>
            <a:ext cx="238749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Neon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8981237" y="2258568"/>
            <a:ext cx="238749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8359445" y="2560320"/>
            <a:ext cx="302757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93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Postgres exposed as DATABASE_URL.</a:t>
            </a:r>
            <a:endParaRPr lang="en-US" sz="930" dirty="0"/>
          </a:p>
        </p:txBody>
      </p:sp>
      <p:sp>
        <p:nvSpPr>
          <p:cNvPr id="27" name="Shape 25"/>
          <p:cNvSpPr/>
          <p:nvPr/>
        </p:nvSpPr>
        <p:spPr>
          <a:xfrm>
            <a:off x="640080" y="3355848"/>
            <a:ext cx="3393338" cy="1371600"/>
          </a:xfrm>
          <a:prstGeom prst="rect">
            <a:avLst/>
          </a:prstGeom>
          <a:solidFill>
            <a:srgbClr val="16264F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41248" y="3557016"/>
            <a:ext cx="512064" cy="51206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9" name="Shape 27"/>
          <p:cNvSpPr/>
          <p:nvPr/>
        </p:nvSpPr>
        <p:spPr>
          <a:xfrm>
            <a:off x="1038700" y="3695888"/>
            <a:ext cx="117160" cy="234320"/>
          </a:xfrm>
          <a:prstGeom prst="lightningBolt">
            <a:avLst/>
          </a:prstGeom>
          <a:solidFill>
            <a:srgbClr val="0E1B3A"/>
          </a:solidFill>
          <a:ln/>
        </p:spPr>
      </p:sp>
      <p:sp>
        <p:nvSpPr>
          <p:cNvPr id="30" name="Text 28"/>
          <p:cNvSpPr/>
          <p:nvPr/>
        </p:nvSpPr>
        <p:spPr>
          <a:xfrm>
            <a:off x="1463040" y="3538728"/>
            <a:ext cx="238749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Upstash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1463040" y="3831336"/>
            <a:ext cx="238749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(TLS)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841248" y="4133088"/>
            <a:ext cx="302757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93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Redis for the BullMQ queues and response cache.</a:t>
            </a:r>
            <a:endParaRPr lang="en-US" sz="930" dirty="0"/>
          </a:p>
        </p:txBody>
      </p:sp>
      <p:sp>
        <p:nvSpPr>
          <p:cNvPr id="33" name="Shape 31"/>
          <p:cNvSpPr/>
          <p:nvPr/>
        </p:nvSpPr>
        <p:spPr>
          <a:xfrm>
            <a:off x="4399178" y="3355848"/>
            <a:ext cx="3393338" cy="1371600"/>
          </a:xfrm>
          <a:prstGeom prst="rect">
            <a:avLst/>
          </a:prstGeom>
          <a:solidFill>
            <a:srgbClr val="16264F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00346" y="3557016"/>
            <a:ext cx="512064" cy="51206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5" name="Shape 33"/>
          <p:cNvSpPr/>
          <p:nvPr/>
        </p:nvSpPr>
        <p:spPr>
          <a:xfrm>
            <a:off x="4744544" y="3727841"/>
            <a:ext cx="223670" cy="170415"/>
          </a:xfrm>
          <a:prstGeom prst="folderCorner">
            <a:avLst/>
          </a:prstGeom>
          <a:solidFill>
            <a:srgbClr val="0E1B3A"/>
          </a:solidFill>
          <a:ln/>
        </p:spPr>
      </p:sp>
      <p:sp>
        <p:nvSpPr>
          <p:cNvPr id="36" name="Text 34"/>
          <p:cNvSpPr/>
          <p:nvPr/>
        </p:nvSpPr>
        <p:spPr>
          <a:xfrm>
            <a:off x="5222138" y="3538728"/>
            <a:ext cx="238749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5222138" y="3831336"/>
            <a:ext cx="238749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Storage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600346" y="4133088"/>
            <a:ext cx="302757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93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S3-compatible bucket for all legal documents.</a:t>
            </a:r>
            <a:endParaRPr lang="en-US" sz="930" dirty="0"/>
          </a:p>
        </p:txBody>
      </p:sp>
      <p:sp>
        <p:nvSpPr>
          <p:cNvPr id="39" name="Shape 37"/>
          <p:cNvSpPr/>
          <p:nvPr/>
        </p:nvSpPr>
        <p:spPr>
          <a:xfrm>
            <a:off x="8158277" y="3355848"/>
            <a:ext cx="3393338" cy="1371600"/>
          </a:xfrm>
          <a:prstGeom prst="rect">
            <a:avLst/>
          </a:prstGeom>
          <a:solidFill>
            <a:srgbClr val="16264F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359445" y="3557016"/>
            <a:ext cx="512064" cy="51206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1" name="Shape 39"/>
          <p:cNvSpPr/>
          <p:nvPr/>
        </p:nvSpPr>
        <p:spPr>
          <a:xfrm>
            <a:off x="8498317" y="3706539"/>
            <a:ext cx="69231" cy="58580"/>
          </a:xfrm>
          <a:prstGeom prst="roundRect">
            <a:avLst>
              <a:gd name="adj" fmla="val 13636"/>
            </a:avLst>
          </a:prstGeom>
          <a:solidFill>
            <a:srgbClr val="0E1B3A"/>
          </a:solidFill>
          <a:ln/>
        </p:spPr>
      </p:sp>
      <p:sp>
        <p:nvSpPr>
          <p:cNvPr id="42" name="Shape 40"/>
          <p:cNvSpPr/>
          <p:nvPr/>
        </p:nvSpPr>
        <p:spPr>
          <a:xfrm>
            <a:off x="8663406" y="3783758"/>
            <a:ext cx="69231" cy="58580"/>
          </a:xfrm>
          <a:prstGeom prst="roundRect">
            <a:avLst>
              <a:gd name="adj" fmla="val 13636"/>
            </a:avLst>
          </a:prstGeom>
          <a:solidFill>
            <a:srgbClr val="0E1B3A"/>
          </a:solidFill>
          <a:ln/>
        </p:spPr>
      </p:sp>
      <p:sp>
        <p:nvSpPr>
          <p:cNvPr id="43" name="Shape 41"/>
          <p:cNvSpPr/>
          <p:nvPr/>
        </p:nvSpPr>
        <p:spPr>
          <a:xfrm>
            <a:off x="8498317" y="3860977"/>
            <a:ext cx="69231" cy="58580"/>
          </a:xfrm>
          <a:prstGeom prst="roundRect">
            <a:avLst>
              <a:gd name="adj" fmla="val 13636"/>
            </a:avLst>
          </a:prstGeom>
          <a:solidFill>
            <a:srgbClr val="0E1B3A"/>
          </a:solidFill>
          <a:ln/>
        </p:spPr>
      </p:sp>
      <p:sp>
        <p:nvSpPr>
          <p:cNvPr id="44" name="Shape 42"/>
          <p:cNvSpPr/>
          <p:nvPr/>
        </p:nvSpPr>
        <p:spPr>
          <a:xfrm>
            <a:off x="8562222" y="3733166"/>
            <a:ext cx="111835" cy="7988"/>
          </a:xfrm>
          <a:prstGeom prst="rect">
            <a:avLst/>
          </a:prstGeom>
          <a:solidFill>
            <a:srgbClr val="0E1B3A"/>
          </a:solidFill>
          <a:ln/>
        </p:spPr>
      </p:sp>
      <p:sp>
        <p:nvSpPr>
          <p:cNvPr id="45" name="Shape 43"/>
          <p:cNvSpPr/>
          <p:nvPr/>
        </p:nvSpPr>
        <p:spPr>
          <a:xfrm>
            <a:off x="8668731" y="3735829"/>
            <a:ext cx="7988" cy="53255"/>
          </a:xfrm>
          <a:prstGeom prst="rect">
            <a:avLst/>
          </a:prstGeom>
          <a:solidFill>
            <a:srgbClr val="0E1B3A"/>
          </a:solidFill>
          <a:ln/>
        </p:spPr>
      </p:sp>
      <p:sp>
        <p:nvSpPr>
          <p:cNvPr id="46" name="Shape 44"/>
          <p:cNvSpPr/>
          <p:nvPr/>
        </p:nvSpPr>
        <p:spPr>
          <a:xfrm>
            <a:off x="8562222" y="3887605"/>
            <a:ext cx="111835" cy="7988"/>
          </a:xfrm>
          <a:prstGeom prst="rect">
            <a:avLst/>
          </a:prstGeom>
          <a:solidFill>
            <a:srgbClr val="0E1B3A"/>
          </a:solidFill>
          <a:ln/>
        </p:spPr>
      </p:sp>
      <p:sp>
        <p:nvSpPr>
          <p:cNvPr id="47" name="Shape 45"/>
          <p:cNvSpPr/>
          <p:nvPr/>
        </p:nvSpPr>
        <p:spPr>
          <a:xfrm>
            <a:off x="8668731" y="3837013"/>
            <a:ext cx="7988" cy="55917"/>
          </a:xfrm>
          <a:prstGeom prst="rect">
            <a:avLst/>
          </a:prstGeom>
          <a:solidFill>
            <a:srgbClr val="0E1B3A"/>
          </a:solidFill>
          <a:ln/>
        </p:spPr>
      </p:sp>
      <p:sp>
        <p:nvSpPr>
          <p:cNvPr id="48" name="Text 46"/>
          <p:cNvSpPr/>
          <p:nvPr/>
        </p:nvSpPr>
        <p:spPr>
          <a:xfrm>
            <a:off x="8981237" y="3538728"/>
            <a:ext cx="238749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Cloud</a:t>
            </a:r>
            <a:endParaRPr lang="en-US" sz="1350" dirty="0"/>
          </a:p>
        </p:txBody>
      </p:sp>
      <p:sp>
        <p:nvSpPr>
          <p:cNvPr id="49" name="Text 47"/>
          <p:cNvSpPr/>
          <p:nvPr/>
        </p:nvSpPr>
        <p:spPr>
          <a:xfrm>
            <a:off x="8981237" y="3831336"/>
            <a:ext cx="238749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Workflow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8359445" y="4133088"/>
            <a:ext cx="302757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93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Hosts the ingest + chat webhooks behind LexAssist AI.</a:t>
            </a:r>
            <a:endParaRPr lang="en-US" sz="930" dirty="0"/>
          </a:p>
        </p:txBody>
      </p:sp>
      <p:sp>
        <p:nvSpPr>
          <p:cNvPr id="51" name="Shape 49"/>
          <p:cNvSpPr/>
          <p:nvPr/>
        </p:nvSpPr>
        <p:spPr>
          <a:xfrm>
            <a:off x="640080" y="4937760"/>
            <a:ext cx="10911535" cy="1417320"/>
          </a:xfrm>
          <a:prstGeom prst="rect">
            <a:avLst/>
          </a:prstGeom>
          <a:solidFill>
            <a:srgbClr val="1E3A6E"/>
          </a:solidFill>
          <a:ln/>
        </p:spPr>
      </p:sp>
      <p:sp>
        <p:nvSpPr>
          <p:cNvPr id="52" name="Shape 50"/>
          <p:cNvSpPr/>
          <p:nvPr/>
        </p:nvSpPr>
        <p:spPr>
          <a:xfrm>
            <a:off x="777240" y="512064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53" name="Shape 51"/>
          <p:cNvSpPr/>
          <p:nvPr/>
        </p:nvSpPr>
        <p:spPr>
          <a:xfrm>
            <a:off x="901233" y="5244633"/>
            <a:ext cx="209215" cy="209215"/>
          </a:xfrm>
          <a:prstGeom prst="gear6">
            <a:avLst/>
          </a:prstGeom>
          <a:solidFill>
            <a:srgbClr val="0E1B3A"/>
          </a:solidFill>
          <a:ln/>
        </p:spPr>
      </p:sp>
      <p:sp>
        <p:nvSpPr>
          <p:cNvPr id="54" name="Shape 52"/>
          <p:cNvSpPr/>
          <p:nvPr/>
        </p:nvSpPr>
        <p:spPr>
          <a:xfrm>
            <a:off x="974933" y="5318333"/>
            <a:ext cx="61813" cy="61813"/>
          </a:xfrm>
          <a:prstGeom prst="ellipse">
            <a:avLst/>
          </a:prstGeom>
          <a:solidFill>
            <a:srgbClr val="0E1B3A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344168" y="5102352"/>
            <a:ext cx="28142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1344168" y="5394960"/>
            <a:ext cx="288737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runs backend (tsc + build) and frontend (vite build) on every push — a broken build never ships.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4368698" y="512064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58" name="Shape 56"/>
          <p:cNvSpPr/>
          <p:nvPr/>
        </p:nvSpPr>
        <p:spPr>
          <a:xfrm rot="10800000">
            <a:off x="4564014" y="5249388"/>
            <a:ext cx="66568" cy="118872"/>
          </a:xfrm>
          <a:prstGeom prst="teardrop">
            <a:avLst/>
          </a:prstGeom>
          <a:solidFill>
            <a:srgbClr val="0E1B3A"/>
          </a:solidFill>
          <a:ln/>
        </p:spPr>
      </p:sp>
      <p:sp>
        <p:nvSpPr>
          <p:cNvPr id="59" name="Shape 57"/>
          <p:cNvSpPr/>
          <p:nvPr/>
        </p:nvSpPr>
        <p:spPr>
          <a:xfrm rot="-1500000">
            <a:off x="4521220" y="5349240"/>
            <a:ext cx="42794" cy="61813"/>
          </a:xfrm>
          <a:prstGeom prst="triangle">
            <a:avLst/>
          </a:prstGeom>
          <a:solidFill>
            <a:srgbClr val="0E1B3A"/>
          </a:solidFill>
          <a:ln/>
        </p:spPr>
      </p:sp>
      <p:sp>
        <p:nvSpPr>
          <p:cNvPr id="60" name="Shape 58"/>
          <p:cNvSpPr/>
          <p:nvPr/>
        </p:nvSpPr>
        <p:spPr>
          <a:xfrm rot="1500000">
            <a:off x="4630583" y="5349240"/>
            <a:ext cx="42794" cy="61813"/>
          </a:xfrm>
          <a:prstGeom prst="triangle">
            <a:avLst/>
          </a:prstGeom>
          <a:solidFill>
            <a:srgbClr val="0E1B3A"/>
          </a:solidFill>
          <a:ln/>
        </p:spPr>
      </p:sp>
      <p:sp>
        <p:nvSpPr>
          <p:cNvPr id="61" name="Shape 59"/>
          <p:cNvSpPr/>
          <p:nvPr/>
        </p:nvSpPr>
        <p:spPr>
          <a:xfrm>
            <a:off x="4583034" y="5292181"/>
            <a:ext cx="28529" cy="28529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2" name="Shape 60"/>
          <p:cNvSpPr/>
          <p:nvPr/>
        </p:nvSpPr>
        <p:spPr>
          <a:xfrm>
            <a:off x="4578279" y="5406299"/>
            <a:ext cx="38039" cy="38039"/>
          </a:xfrm>
          <a:prstGeom prst="triangle">
            <a:avLst/>
          </a:prstGeom>
          <a:solidFill>
            <a:srgbClr val="0E1B3A"/>
          </a:solidFill>
          <a:ln/>
        </p:spPr>
      </p:sp>
      <p:sp>
        <p:nvSpPr>
          <p:cNvPr id="63" name="Text 61"/>
          <p:cNvSpPr/>
          <p:nvPr/>
        </p:nvSpPr>
        <p:spPr>
          <a:xfrm>
            <a:off x="4935626" y="5102352"/>
            <a:ext cx="28142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4935626" y="5394960"/>
            <a:ext cx="288737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&amp; Render auto-deploy from main once CI is green.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7960157" y="512064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66" name="Shape 64"/>
          <p:cNvSpPr/>
          <p:nvPr/>
        </p:nvSpPr>
        <p:spPr>
          <a:xfrm>
            <a:off x="8088904" y="5249388"/>
            <a:ext cx="199705" cy="199705"/>
          </a:xfrm>
          <a:prstGeom prst="donut">
            <a:avLst/>
          </a:prstGeom>
          <a:solidFill>
            <a:srgbClr val="0E1B3A"/>
          </a:solidFill>
          <a:ln/>
        </p:spPr>
      </p:sp>
      <p:sp>
        <p:nvSpPr>
          <p:cNvPr id="67" name="Shape 65"/>
          <p:cNvSpPr/>
          <p:nvPr/>
        </p:nvSpPr>
        <p:spPr>
          <a:xfrm>
            <a:off x="8185191" y="5301691"/>
            <a:ext cx="9510" cy="52304"/>
          </a:xfrm>
          <a:prstGeom prst="rect">
            <a:avLst/>
          </a:prstGeom>
          <a:solidFill>
            <a:srgbClr val="0E1B3A"/>
          </a:solidFill>
          <a:ln/>
        </p:spPr>
      </p:sp>
      <p:sp>
        <p:nvSpPr>
          <p:cNvPr id="68" name="Shape 66"/>
          <p:cNvSpPr/>
          <p:nvPr/>
        </p:nvSpPr>
        <p:spPr>
          <a:xfrm>
            <a:off x="8186379" y="5339730"/>
            <a:ext cx="38039" cy="8321"/>
          </a:xfrm>
          <a:prstGeom prst="rect">
            <a:avLst/>
          </a:prstGeom>
          <a:solidFill>
            <a:srgbClr val="0E1B3A"/>
          </a:solidFill>
          <a:ln/>
        </p:spPr>
      </p:sp>
      <p:sp>
        <p:nvSpPr>
          <p:cNvPr id="69" name="Text 67"/>
          <p:cNvSpPr/>
          <p:nvPr/>
        </p:nvSpPr>
        <p:spPr>
          <a:xfrm>
            <a:off x="8527085" y="5102352"/>
            <a:ext cx="28142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</a:t>
            </a:r>
            <a:endParaRPr lang="en-US" sz="1200" dirty="0"/>
          </a:p>
        </p:txBody>
      </p:sp>
      <p:sp>
        <p:nvSpPr>
          <p:cNvPr id="70" name="Text 68"/>
          <p:cNvSpPr/>
          <p:nvPr/>
        </p:nvSpPr>
        <p:spPr>
          <a:xfrm>
            <a:off x="8527085" y="5394960"/>
            <a:ext cx="288737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Keep-alive ping every 10 min; client cold-start retry with a “waking up” banner; user-network detection.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640080" y="64465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tier runs on a managed free plan — no credit card — yet the architecture is production-shaped and scalable.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-1645920"/>
            <a:ext cx="4937760" cy="4937760"/>
          </a:xfrm>
          <a:prstGeom prst="ellipse">
            <a:avLst/>
          </a:prstGeom>
          <a:solidFill>
            <a:srgbClr val="16264F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2240280"/>
            <a:ext cx="1051560" cy="10515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936199" y="2558272"/>
            <a:ext cx="459321" cy="459321"/>
          </a:xfrm>
          <a:prstGeom prst="blockArc">
            <a:avLst/>
          </a:prstGeom>
          <a:solidFill>
            <a:srgbClr val="0E1B3A"/>
          </a:solidFill>
          <a:ln/>
        </p:spPr>
      </p:sp>
      <p:sp>
        <p:nvSpPr>
          <p:cNvPr id="5" name="Shape 3"/>
          <p:cNvSpPr/>
          <p:nvPr/>
        </p:nvSpPr>
        <p:spPr>
          <a:xfrm rot="-2100000">
            <a:off x="1160392" y="2656698"/>
            <a:ext cx="21872" cy="153107"/>
          </a:xfrm>
          <a:prstGeom prst="rect">
            <a:avLst/>
          </a:prstGeom>
          <a:solidFill>
            <a:srgbClr val="0E1B3A"/>
          </a:solidFill>
          <a:ln/>
        </p:spPr>
      </p:sp>
      <p:sp>
        <p:nvSpPr>
          <p:cNvPr id="6" name="Shape 4"/>
          <p:cNvSpPr/>
          <p:nvPr/>
        </p:nvSpPr>
        <p:spPr>
          <a:xfrm>
            <a:off x="1122115" y="2766060"/>
            <a:ext cx="87490" cy="87490"/>
          </a:xfrm>
          <a:prstGeom prst="ellipse">
            <a:avLst/>
          </a:prstGeom>
          <a:solidFill>
            <a:srgbClr val="0E1B3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338328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 &amp; Demo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640080" y="43891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walkthrough of the deployed platform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49834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lex-manage-olive.vercel.app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185855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LexManage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/ DEMO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86868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Demonstration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Walkthrough — onboarding &amp; dashboard · cases, documents &amp; search · LexAssist AI · notifications.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148840"/>
            <a:ext cx="5272888" cy="4023360"/>
          </a:xfrm>
          <a:prstGeom prst="rect">
            <a:avLst/>
          </a:prstGeom>
          <a:solidFill>
            <a:srgbClr val="F8FAFC"/>
          </a:solidFill>
          <a:ln w="19050">
            <a:solidFill>
              <a:srgbClr val="E2E8F0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2865044" y="347472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3096789" y="3800612"/>
            <a:ext cx="359469" cy="171176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10" name="Shape 8"/>
          <p:cNvSpPr/>
          <p:nvPr/>
        </p:nvSpPr>
        <p:spPr>
          <a:xfrm>
            <a:off x="3216612" y="3800612"/>
            <a:ext cx="119823" cy="17117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3242289" y="3834847"/>
            <a:ext cx="68470" cy="102705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4251960"/>
            <a:ext cx="5272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screenshot / live demo ]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78728" y="2148840"/>
            <a:ext cx="5272888" cy="4023360"/>
          </a:xfrm>
          <a:prstGeom prst="rect">
            <a:avLst/>
          </a:prstGeom>
          <a:solidFill>
            <a:srgbClr val="F8FAFC"/>
          </a:solidFill>
          <a:ln w="19050">
            <a:solidFill>
              <a:srgbClr val="E2E8F0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8503691" y="347472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8735437" y="3800612"/>
            <a:ext cx="359469" cy="171176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16" name="Shape 14"/>
          <p:cNvSpPr/>
          <p:nvPr/>
        </p:nvSpPr>
        <p:spPr>
          <a:xfrm>
            <a:off x="8855260" y="3800612"/>
            <a:ext cx="119823" cy="17117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8880936" y="3834847"/>
            <a:ext cx="68470" cy="102705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18" name="Text 16"/>
          <p:cNvSpPr/>
          <p:nvPr/>
        </p:nvSpPr>
        <p:spPr>
          <a:xfrm>
            <a:off x="6278728" y="4251960"/>
            <a:ext cx="5272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screenshot / live demo ]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E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03120" y="4114800"/>
            <a:ext cx="4937760" cy="4937760"/>
          </a:xfrm>
          <a:prstGeom prst="ellipse">
            <a:avLst/>
          </a:prstGeom>
          <a:solidFill>
            <a:srgbClr val="16264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96112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LexManage in Summary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603504" cy="60350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6" name="Shape 4"/>
          <p:cNvSpPr/>
          <p:nvPr/>
        </p:nvSpPr>
        <p:spPr>
          <a:xfrm rot="2700000">
            <a:off x="835132" y="2163719"/>
            <a:ext cx="28244" cy="94147"/>
          </a:xfrm>
          <a:prstGeom prst="rect">
            <a:avLst/>
          </a:prstGeom>
          <a:solidFill>
            <a:srgbClr val="0E1B3A"/>
          </a:solidFill>
          <a:ln/>
        </p:spPr>
      </p:sp>
      <p:sp>
        <p:nvSpPr>
          <p:cNvPr id="7" name="Shape 5"/>
          <p:cNvSpPr/>
          <p:nvPr/>
        </p:nvSpPr>
        <p:spPr>
          <a:xfrm rot="-2700000">
            <a:off x="910450" y="2113508"/>
            <a:ext cx="28244" cy="163187"/>
          </a:xfrm>
          <a:prstGeom prst="rect">
            <a:avLst/>
          </a:prstGeom>
          <a:solidFill>
            <a:srgbClr val="0E1B3A"/>
          </a:solidFill>
          <a:ln/>
        </p:spPr>
      </p:sp>
      <p:sp>
        <p:nvSpPr>
          <p:cNvPr id="8" name="Text 6"/>
          <p:cNvSpPr/>
          <p:nvPr/>
        </p:nvSpPr>
        <p:spPr>
          <a:xfrm>
            <a:off x="1508760" y="1856232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answer to a real problem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508760" y="222199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8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law-firm pain point — fragmentation, lost documents, missed deadlines, slow research — maps to a concrete, shipped feature.</a:t>
            </a:r>
            <a:endParaRPr lang="en-US" sz="1180" dirty="0"/>
          </a:p>
        </p:txBody>
      </p:sp>
      <p:sp>
        <p:nvSpPr>
          <p:cNvPr id="10" name="Shape 8"/>
          <p:cNvSpPr/>
          <p:nvPr/>
        </p:nvSpPr>
        <p:spPr>
          <a:xfrm>
            <a:off x="640080" y="2843784"/>
            <a:ext cx="603504" cy="60350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1" name="Shape 9"/>
          <p:cNvSpPr/>
          <p:nvPr/>
        </p:nvSpPr>
        <p:spPr>
          <a:xfrm rot="10800000">
            <a:off x="835132" y="3013731"/>
            <a:ext cx="213399" cy="263611"/>
          </a:xfrm>
          <a:prstGeom prst="pentagon">
            <a:avLst/>
          </a:prstGeom>
          <a:solidFill>
            <a:srgbClr val="0E1B3A"/>
          </a:solidFill>
          <a:ln/>
        </p:spPr>
      </p:sp>
      <p:sp>
        <p:nvSpPr>
          <p:cNvPr id="12" name="Shape 10"/>
          <p:cNvSpPr/>
          <p:nvPr/>
        </p:nvSpPr>
        <p:spPr>
          <a:xfrm rot="2700000">
            <a:off x="891620" y="3132983"/>
            <a:ext cx="21968" cy="56488"/>
          </a:xfrm>
          <a:prstGeom prst="rect">
            <a:avLst/>
          </a:prstGeom>
          <a:solidFill>
            <a:srgbClr val="0E1B3A"/>
          </a:solidFill>
          <a:ln/>
        </p:spPr>
      </p:sp>
      <p:sp>
        <p:nvSpPr>
          <p:cNvPr id="13" name="Shape 11"/>
          <p:cNvSpPr/>
          <p:nvPr/>
        </p:nvSpPr>
        <p:spPr>
          <a:xfrm rot="-2700000">
            <a:off x="926141" y="3095324"/>
            <a:ext cx="21968" cy="106700"/>
          </a:xfrm>
          <a:prstGeom prst="rect">
            <a:avLst/>
          </a:prstGeom>
          <a:solidFill>
            <a:srgbClr val="0E1B3A"/>
          </a:solidFill>
          <a:ln/>
        </p:spPr>
      </p:sp>
      <p:sp>
        <p:nvSpPr>
          <p:cNvPr id="14" name="Text 12"/>
          <p:cNvSpPr/>
          <p:nvPr/>
        </p:nvSpPr>
        <p:spPr>
          <a:xfrm>
            <a:off x="1508760" y="2825496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&amp; multi-tenant by design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508760" y="3191256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8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auth, RBAC, per-firm isolation, signed URLs and audit logging protect confidential legal data at every layer.</a:t>
            </a:r>
            <a:endParaRPr lang="en-US" sz="1180" dirty="0"/>
          </a:p>
        </p:txBody>
      </p:sp>
      <p:sp>
        <p:nvSpPr>
          <p:cNvPr id="16" name="Shape 14"/>
          <p:cNvSpPr/>
          <p:nvPr/>
        </p:nvSpPr>
        <p:spPr>
          <a:xfrm>
            <a:off x="640080" y="3813048"/>
            <a:ext cx="603504" cy="60350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7" name="Shape 15"/>
          <p:cNvSpPr/>
          <p:nvPr/>
        </p:nvSpPr>
        <p:spPr>
          <a:xfrm>
            <a:off x="835132" y="4039483"/>
            <a:ext cx="213399" cy="175740"/>
          </a:xfrm>
          <a:prstGeom prst="roundRect">
            <a:avLst>
              <a:gd name="adj" fmla="val 14286"/>
            </a:avLst>
          </a:prstGeom>
          <a:solidFill>
            <a:srgbClr val="0E1B3A"/>
          </a:solidFill>
          <a:ln/>
        </p:spPr>
      </p:sp>
      <p:sp>
        <p:nvSpPr>
          <p:cNvPr id="18" name="Shape 16"/>
          <p:cNvSpPr/>
          <p:nvPr/>
        </p:nvSpPr>
        <p:spPr>
          <a:xfrm>
            <a:off x="882206" y="4089694"/>
            <a:ext cx="43935" cy="4393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957523" y="4089694"/>
            <a:ext cx="43935" cy="4393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935556" y="3989271"/>
            <a:ext cx="12553" cy="50212"/>
          </a:xfrm>
          <a:prstGeom prst="rect">
            <a:avLst/>
          </a:prstGeom>
          <a:solidFill>
            <a:srgbClr val="0E1B3A"/>
          </a:solidFill>
          <a:ln/>
        </p:spPr>
      </p:sp>
      <p:sp>
        <p:nvSpPr>
          <p:cNvPr id="21" name="Shape 19"/>
          <p:cNvSpPr/>
          <p:nvPr/>
        </p:nvSpPr>
        <p:spPr>
          <a:xfrm>
            <a:off x="923003" y="3970442"/>
            <a:ext cx="37659" cy="37659"/>
          </a:xfrm>
          <a:prstGeom prst="ellipse">
            <a:avLst/>
          </a:prstGeom>
          <a:solidFill>
            <a:srgbClr val="0E1B3A"/>
          </a:solidFill>
          <a:ln/>
        </p:spPr>
      </p:sp>
      <p:sp>
        <p:nvSpPr>
          <p:cNvPr id="22" name="Text 20"/>
          <p:cNvSpPr/>
          <p:nvPr/>
        </p:nvSpPr>
        <p:spPr>
          <a:xfrm>
            <a:off x="1508760" y="379476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that is actually grounded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508760" y="416052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8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LexAssist answers from the firm’s own documents through an isolated RAG workflow — useful, not hallucinated.</a:t>
            </a:r>
            <a:endParaRPr lang="en-US" sz="1180" dirty="0"/>
          </a:p>
        </p:txBody>
      </p:sp>
      <p:sp>
        <p:nvSpPr>
          <p:cNvPr id="24" name="Shape 22"/>
          <p:cNvSpPr/>
          <p:nvPr/>
        </p:nvSpPr>
        <p:spPr>
          <a:xfrm>
            <a:off x="640080" y="4782312"/>
            <a:ext cx="603504" cy="60350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5" name="Shape 23"/>
          <p:cNvSpPr/>
          <p:nvPr/>
        </p:nvSpPr>
        <p:spPr>
          <a:xfrm rot="10800000">
            <a:off x="897897" y="4952259"/>
            <a:ext cx="87870" cy="156911"/>
          </a:xfrm>
          <a:prstGeom prst="teardrop">
            <a:avLst/>
          </a:prstGeom>
          <a:solidFill>
            <a:srgbClr val="0E1B3A"/>
          </a:solidFill>
          <a:ln/>
        </p:spPr>
      </p:sp>
      <p:sp>
        <p:nvSpPr>
          <p:cNvPr id="26" name="Shape 24"/>
          <p:cNvSpPr/>
          <p:nvPr/>
        </p:nvSpPr>
        <p:spPr>
          <a:xfrm rot="-1500000">
            <a:off x="841409" y="5084064"/>
            <a:ext cx="56488" cy="81594"/>
          </a:xfrm>
          <a:prstGeom prst="triangle">
            <a:avLst/>
          </a:prstGeom>
          <a:solidFill>
            <a:srgbClr val="0E1B3A"/>
          </a:solidFill>
          <a:ln/>
        </p:spPr>
      </p:sp>
      <p:sp>
        <p:nvSpPr>
          <p:cNvPr id="27" name="Shape 25"/>
          <p:cNvSpPr/>
          <p:nvPr/>
        </p:nvSpPr>
        <p:spPr>
          <a:xfrm rot="1500000">
            <a:off x="985767" y="5084064"/>
            <a:ext cx="56488" cy="81594"/>
          </a:xfrm>
          <a:prstGeom prst="triangle">
            <a:avLst/>
          </a:prstGeom>
          <a:solidFill>
            <a:srgbClr val="0E1B3A"/>
          </a:solidFill>
          <a:ln/>
        </p:spPr>
      </p:sp>
      <p:sp>
        <p:nvSpPr>
          <p:cNvPr id="28" name="Shape 26"/>
          <p:cNvSpPr/>
          <p:nvPr/>
        </p:nvSpPr>
        <p:spPr>
          <a:xfrm>
            <a:off x="923003" y="5008747"/>
            <a:ext cx="37659" cy="37659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9" name="Shape 27"/>
          <p:cNvSpPr/>
          <p:nvPr/>
        </p:nvSpPr>
        <p:spPr>
          <a:xfrm>
            <a:off x="916726" y="5159381"/>
            <a:ext cx="50212" cy="50212"/>
          </a:xfrm>
          <a:prstGeom prst="triangle">
            <a:avLst/>
          </a:prstGeom>
          <a:solidFill>
            <a:srgbClr val="0E1B3A"/>
          </a:solidFill>
          <a:ln/>
        </p:spPr>
      </p:sp>
      <p:sp>
        <p:nvSpPr>
          <p:cNvPr id="30" name="Text 28"/>
          <p:cNvSpPr/>
          <p:nvPr/>
        </p:nvSpPr>
        <p:spPr>
          <a:xfrm>
            <a:off x="1508760" y="4764024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Production-shaped, zero-cost deployment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508760" y="5129784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8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modern React + NestJS stack, fully deployed on free managed cloud services with CI/CD and keep-alive.</a:t>
            </a:r>
            <a:endParaRPr lang="en-US" sz="1180" dirty="0"/>
          </a:p>
        </p:txBody>
      </p:sp>
      <p:sp>
        <p:nvSpPr>
          <p:cNvPr id="32" name="Text 30"/>
          <p:cNvSpPr/>
          <p:nvPr/>
        </p:nvSpPr>
        <p:spPr>
          <a:xfrm>
            <a:off x="640080" y="59436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  —  Questions &amp; Discussion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LexManage — Project Presentation</dc:title>
  <dc:subject>PptxGenJS Presentation</dc:subject>
  <dc:creator>Emmanuel Nyouma</dc:creator>
  <cp:lastModifiedBy>Emmanuel Nyouma</cp:lastModifiedBy>
  <cp:revision>1</cp:revision>
  <dcterms:created xsi:type="dcterms:W3CDTF">2026-06-14T06:37:13Z</dcterms:created>
  <dcterms:modified xsi:type="dcterms:W3CDTF">2026-06-14T06:37:13Z</dcterms:modified>
</cp:coreProperties>
</file>